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65" r:id="rId3"/>
    <p:sldId id="267" r:id="rId4"/>
    <p:sldId id="266" r:id="rId5"/>
    <p:sldId id="257" r:id="rId6"/>
    <p:sldId id="258" r:id="rId7"/>
    <p:sldId id="259" r:id="rId8"/>
    <p:sldId id="260" r:id="rId9"/>
    <p:sldId id="261" r:id="rId10"/>
    <p:sldId id="262" r:id="rId11"/>
    <p:sldId id="263" r:id="rId12"/>
    <p:sldId id="264" r:id="rId13"/>
  </p:sldIdLst>
  <p:sldSz cx="12192000" cy="6858000"/>
  <p:notesSz cx="6858000" cy="12192000"/>
  <p:embeddedFontLst>
    <p:embeddedFont>
      <p:font typeface="Kanit Light" panose="020B0604020202020204" charset="-34"/>
      <p:regular r:id="rId15"/>
    </p:embeddedFont>
    <p:embeddedFont>
      <p:font typeface="Martel Sans" panose="020B0604020202020204"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9572" autoAdjust="0"/>
    <p:restoredTop sz="94610"/>
  </p:normalViewPr>
  <p:slideViewPr>
    <p:cSldViewPr snapToGrid="0" snapToObjects="1">
      <p:cViewPr>
        <p:scale>
          <a:sx n="75" d="100"/>
          <a:sy n="75" d="100"/>
        </p:scale>
        <p:origin x="307"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0618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57228-7B49-4613-392E-91FEA2C12A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B3B290-B406-81EC-CE63-0D1A03F803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65E894-CDA4-DD78-70A4-4E8F407934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21B999-743E-0EEF-025A-9E795EE95D70}"/>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1562227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5948F-06BE-FB69-50A7-7FAB9C92D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F2EEB6-6C66-481C-0225-4D2E996C54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ECDBA1-73DD-F64B-CBF0-212D3AFDF3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AEDD5D-26CA-9D3C-91B6-F49E77EEEFD7}"/>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8811617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4AEEF-F679-F9ED-6C8A-BC5D0CED08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1C814A-D9EF-DA88-36BA-4DF5EB2B2F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6FE0F2-8AD7-F6C1-985A-EAA4891609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684F47-5881-1B13-04B5-C12B646BCB74}"/>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721023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BF4F3"/>
          </a:solidFill>
          <a:ln/>
        </p:spPr>
        <p:txBody>
          <a:bodyPr/>
          <a:lstStyle/>
          <a:p>
            <a:endParaRPr lang="de-DE"/>
          </a:p>
        </p:txBody>
      </p:sp>
      <p:sp>
        <p:nvSpPr>
          <p:cNvPr id="3" name="Shape 1"/>
          <p:cNvSpPr/>
          <p:nvPr/>
        </p:nvSpPr>
        <p:spPr>
          <a:xfrm>
            <a:off x="0" y="0"/>
            <a:ext cx="12191695" cy="6858000"/>
          </a:xfrm>
          <a:prstGeom prst="rect">
            <a:avLst/>
          </a:prstGeom>
          <a:solidFill>
            <a:srgbClr val="FFFFFF"/>
          </a:solidFill>
          <a:ln/>
        </p:spPr>
        <p:txBody>
          <a:bodyPr/>
          <a:lstStyle/>
          <a:p>
            <a:endParaRPr lang="de-DE"/>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661475" y="1483360"/>
            <a:ext cx="6296860" cy="2001520"/>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272D45"/>
                </a:solidFill>
                <a:latin typeface="Kanit Light" pitchFamily="34" charset="0"/>
                <a:ea typeface="Kanit Light" pitchFamily="34" charset="-122"/>
                <a:cs typeface="Kanit Light" pitchFamily="34" charset="-120"/>
              </a:rPr>
              <a:t>Der deutsche </a:t>
            </a:r>
            <a:r>
              <a:rPr lang="en-US" sz="3700" dirty="0" err="1">
                <a:solidFill>
                  <a:srgbClr val="272D45"/>
                </a:solidFill>
                <a:latin typeface="Kanit Light" pitchFamily="34" charset="0"/>
                <a:ea typeface="Kanit Light" pitchFamily="34" charset="-122"/>
                <a:cs typeface="Kanit Light" pitchFamily="34" charset="-120"/>
              </a:rPr>
              <a:t>Immobilienmarkt</a:t>
            </a:r>
            <a:r>
              <a:rPr lang="en-US" sz="3700" dirty="0">
                <a:solidFill>
                  <a:srgbClr val="272D45"/>
                </a:solidFill>
                <a:latin typeface="Kanit Light" pitchFamily="34" charset="0"/>
                <a:ea typeface="Kanit Light" pitchFamily="34" charset="-122"/>
                <a:cs typeface="Kanit Light" pitchFamily="34" charset="-120"/>
              </a:rPr>
              <a:t> </a:t>
            </a:r>
            <a:br>
              <a:rPr lang="en-US" sz="3700" dirty="0">
                <a:solidFill>
                  <a:srgbClr val="272D45"/>
                </a:solidFill>
                <a:latin typeface="Kanit Light" pitchFamily="34" charset="0"/>
                <a:ea typeface="Kanit Light" pitchFamily="34" charset="-122"/>
                <a:cs typeface="Kanit Light" pitchFamily="34" charset="-120"/>
              </a:rPr>
            </a:br>
            <a:r>
              <a:rPr lang="en-US" sz="3700" dirty="0">
                <a:solidFill>
                  <a:srgbClr val="272D45"/>
                </a:solidFill>
                <a:latin typeface="Kanit Light" pitchFamily="34" charset="0"/>
                <a:ea typeface="Kanit Light" pitchFamily="34" charset="-122"/>
                <a:cs typeface="Kanit Light" pitchFamily="34" charset="-120"/>
              </a:rPr>
              <a:t>2005 bis 2024</a:t>
            </a:r>
            <a:endParaRPr lang="en-US" sz="3700" dirty="0"/>
          </a:p>
        </p:txBody>
      </p:sp>
      <p:sp>
        <p:nvSpPr>
          <p:cNvPr id="4" name="Text 1"/>
          <p:cNvSpPr/>
          <p:nvPr/>
        </p:nvSpPr>
        <p:spPr>
          <a:xfrm>
            <a:off x="661475" y="4053840"/>
            <a:ext cx="6296860" cy="1320800"/>
          </a:xfrm>
          <a:prstGeom prst="rect">
            <a:avLst/>
          </a:prstGeom>
          <a:noFill/>
          <a:ln/>
        </p:spPr>
        <p:txBody>
          <a:bodyPr wrap="square" lIns="0" tIns="0" rIns="0" bIns="0" rtlCol="0" anchor="t">
            <a:normAutofit/>
          </a:bodyPr>
          <a:lstStyle/>
          <a:p>
            <a:r>
              <a:rPr lang="de-DE" sz="2000" dirty="0"/>
              <a:t>Eine Datenanalyse über 21 Städte und zwei Jahrzehnte</a:t>
            </a:r>
            <a:endParaRPr lang="en-US" sz="2000" dirty="0"/>
          </a:p>
        </p:txBody>
      </p:sp>
      <p:pic>
        <p:nvPicPr>
          <p:cNvPr id="10" name="Grafik 9">
            <a:extLst>
              <a:ext uri="{FF2B5EF4-FFF2-40B4-BE49-F238E27FC236}">
                <a16:creationId xmlns:a16="http://schemas.microsoft.com/office/drawing/2014/main" id="{446CE180-85E1-4534-8568-1C229F08DDB2}"/>
              </a:ext>
            </a:extLst>
          </p:cNvPr>
          <p:cNvPicPr>
            <a:picLocks noChangeAspect="1"/>
          </p:cNvPicPr>
          <p:nvPr/>
        </p:nvPicPr>
        <p:blipFill>
          <a:blip r:embed="rId3"/>
          <a:stretch>
            <a:fillRect/>
          </a:stretch>
        </p:blipFill>
        <p:spPr>
          <a:xfrm>
            <a:off x="7631546" y="0"/>
            <a:ext cx="4560454" cy="6858000"/>
          </a:xfrm>
          <a:prstGeom prst="rect">
            <a:avLst/>
          </a:prstGeom>
        </p:spPr>
      </p:pic>
      <p:sp>
        <p:nvSpPr>
          <p:cNvPr id="7" name="Rechteck 6">
            <a:extLst>
              <a:ext uri="{FF2B5EF4-FFF2-40B4-BE49-F238E27FC236}">
                <a16:creationId xmlns:a16="http://schemas.microsoft.com/office/drawing/2014/main" id="{BBD76BF7-8E30-C7FA-0C7C-F03C189A755B}"/>
              </a:ext>
            </a:extLst>
          </p:cNvPr>
          <p:cNvSpPr/>
          <p:nvPr/>
        </p:nvSpPr>
        <p:spPr>
          <a:xfrm>
            <a:off x="10095004" y="6400800"/>
            <a:ext cx="2041003" cy="457200"/>
          </a:xfrm>
          <a:prstGeom prst="rect">
            <a:avLst/>
          </a:prstGeom>
          <a:blipFill>
            <a:blip r:embed="rId4"/>
            <a:tile tx="0" ty="0" sx="100000" sy="100000" flip="none" algn="tl"/>
          </a:blipFill>
          <a:ln>
            <a:noFill/>
          </a:ln>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de-DE" sz="1050" b="1" dirty="0">
                <a:solidFill>
                  <a:schemeClr val="tx1"/>
                </a:solidFill>
                <a:latin typeface="+mj-lt"/>
              </a:rPr>
              <a:t>Frankfurt am Main </a:t>
            </a:r>
            <a:br>
              <a:rPr lang="de-DE" sz="1050" dirty="0">
                <a:solidFill>
                  <a:schemeClr val="tx1"/>
                </a:solidFill>
                <a:latin typeface="+mj-lt"/>
              </a:rPr>
            </a:br>
            <a:r>
              <a:rPr lang="de-DE" sz="1050" dirty="0">
                <a:solidFill>
                  <a:schemeClr val="tx1"/>
                </a:solidFill>
                <a:latin typeface="+mj-lt"/>
              </a:rPr>
              <a:t>Europas kleinste echte Weltstadt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9292E-3E9B-8270-539F-9B0505A874BF}"/>
            </a:ext>
          </a:extLst>
        </p:cNvPr>
        <p:cNvGrpSpPr/>
        <p:nvPr/>
      </p:nvGrpSpPr>
      <p:grpSpPr>
        <a:xfrm>
          <a:off x="0" y="0"/>
          <a:ext cx="0" cy="0"/>
          <a:chOff x="0" y="0"/>
          <a:chExt cx="0" cy="0"/>
        </a:xfrm>
      </p:grpSpPr>
      <p:pic>
        <p:nvPicPr>
          <p:cNvPr id="16" name="Grafik 15">
            <a:extLst>
              <a:ext uri="{FF2B5EF4-FFF2-40B4-BE49-F238E27FC236}">
                <a16:creationId xmlns:a16="http://schemas.microsoft.com/office/drawing/2014/main" id="{7EAC8D83-DFBA-4DE8-1080-9ED0A2965494}"/>
              </a:ext>
            </a:extLst>
          </p:cNvPr>
          <p:cNvPicPr>
            <a:picLocks noChangeAspect="1"/>
          </p:cNvPicPr>
          <p:nvPr/>
        </p:nvPicPr>
        <p:blipFill>
          <a:blip r:embed="rId3"/>
          <a:srcRect l="5589" r="8585"/>
          <a:stretch>
            <a:fillRect/>
          </a:stretch>
        </p:blipFill>
        <p:spPr>
          <a:xfrm>
            <a:off x="0" y="0"/>
            <a:ext cx="4368800" cy="6858000"/>
          </a:xfrm>
          <a:prstGeom prst="rect">
            <a:avLst/>
          </a:prstGeom>
        </p:spPr>
      </p:pic>
      <p:sp>
        <p:nvSpPr>
          <p:cNvPr id="3" name="Text 0">
            <a:extLst>
              <a:ext uri="{FF2B5EF4-FFF2-40B4-BE49-F238E27FC236}">
                <a16:creationId xmlns:a16="http://schemas.microsoft.com/office/drawing/2014/main" id="{C2BE2FC8-4112-828D-78FC-C6DE7DCB0B6C}"/>
              </a:ext>
            </a:extLst>
          </p:cNvPr>
          <p:cNvSpPr/>
          <p:nvPr/>
        </p:nvSpPr>
        <p:spPr>
          <a:xfrm>
            <a:off x="5325128" y="1416352"/>
            <a:ext cx="6296860" cy="1771948"/>
          </a:xfrm>
          <a:prstGeom prst="rect">
            <a:avLst/>
          </a:prstGeom>
          <a:noFill/>
          <a:ln/>
        </p:spPr>
        <p:txBody>
          <a:bodyPr wrap="square" lIns="0" tIns="0" rIns="0" bIns="0" rtlCol="0" anchor="t">
            <a:normAutofit/>
          </a:bodyPr>
          <a:lstStyle/>
          <a:p>
            <a:r>
              <a:rPr lang="de-DE" sz="4000" dirty="0"/>
              <a:t>Wohnen wird teurer, aber nicht überall gleich</a:t>
            </a:r>
            <a:endParaRPr lang="en-US" sz="3700" dirty="0"/>
          </a:p>
        </p:txBody>
      </p:sp>
      <p:sp>
        <p:nvSpPr>
          <p:cNvPr id="4" name="Text 1">
            <a:extLst>
              <a:ext uri="{FF2B5EF4-FFF2-40B4-BE49-F238E27FC236}">
                <a16:creationId xmlns:a16="http://schemas.microsoft.com/office/drawing/2014/main" id="{EF94236B-EC9D-2255-3E08-F5AED8225093}"/>
              </a:ext>
            </a:extLst>
          </p:cNvPr>
          <p:cNvSpPr/>
          <p:nvPr/>
        </p:nvSpPr>
        <p:spPr>
          <a:xfrm>
            <a:off x="5325128" y="3646542"/>
            <a:ext cx="6296860" cy="405913"/>
          </a:xfrm>
          <a:prstGeom prst="rect">
            <a:avLst/>
          </a:prstGeom>
          <a:noFill/>
          <a:ln/>
        </p:spPr>
        <p:txBody>
          <a:bodyPr wrap="square" lIns="0" tIns="0" rIns="0" bIns="0" rtlCol="0" anchor="t">
            <a:noAutofit/>
          </a:bodyPr>
          <a:lstStyle/>
          <a:p>
            <a:pPr algn="just"/>
            <a:r>
              <a:rPr lang="de-DE" dirty="0"/>
              <a:t>Eine Datenanalyse über 21 Städte und zwei Jahrzehnte. Zwischen 2005 und 2024 hat sich der Immobilienmarkt in Deutschland komplett verändert. München plus 202 %. Chemnitz minus 3 %. Eine Analyse von 21 Städten über zwei Jahrzehnte zeigt, warum der deutsche Wohnungsmarkt längst kein einheitlicher Markt mehr ist.</a:t>
            </a:r>
            <a:endParaRPr lang="en-US" dirty="0"/>
          </a:p>
        </p:txBody>
      </p:sp>
      <p:sp>
        <p:nvSpPr>
          <p:cNvPr id="6" name="Rechteck 5">
            <a:extLst>
              <a:ext uri="{FF2B5EF4-FFF2-40B4-BE49-F238E27FC236}">
                <a16:creationId xmlns:a16="http://schemas.microsoft.com/office/drawing/2014/main" id="{16F7FE3F-B07B-B58A-578F-4468D6BADC2B}"/>
              </a:ext>
            </a:extLst>
          </p:cNvPr>
          <p:cNvSpPr/>
          <p:nvPr/>
        </p:nvSpPr>
        <p:spPr>
          <a:xfrm>
            <a:off x="10599420" y="6527942"/>
            <a:ext cx="1539240" cy="3300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Rechteck 13">
            <a:extLst>
              <a:ext uri="{FF2B5EF4-FFF2-40B4-BE49-F238E27FC236}">
                <a16:creationId xmlns:a16="http://schemas.microsoft.com/office/drawing/2014/main" id="{444BE484-9049-2FE0-2B94-A11CD8A2637F}"/>
              </a:ext>
            </a:extLst>
          </p:cNvPr>
          <p:cNvSpPr/>
          <p:nvPr/>
        </p:nvSpPr>
        <p:spPr>
          <a:xfrm>
            <a:off x="53340" y="6377650"/>
            <a:ext cx="2233914" cy="460171"/>
          </a:xfrm>
          <a:prstGeom prst="rect">
            <a:avLst/>
          </a:prstGeom>
          <a:blipFill>
            <a:blip r:embed="rId4"/>
            <a:tile tx="0" ty="0" sx="100000" sy="100000" flip="none" algn="tl"/>
          </a:blipFill>
          <a:ln>
            <a:noFill/>
          </a:ln>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050" b="1" dirty="0">
                <a:solidFill>
                  <a:schemeClr val="tx1"/>
                </a:solidFill>
                <a:latin typeface="+mj-lt"/>
              </a:rPr>
              <a:t>Erfurt</a:t>
            </a:r>
            <a:br>
              <a:rPr lang="de-DE" sz="1050" dirty="0">
                <a:solidFill>
                  <a:schemeClr val="tx1"/>
                </a:solidFill>
                <a:latin typeface="+mj-lt"/>
              </a:rPr>
            </a:br>
            <a:r>
              <a:rPr lang="de-DE" sz="1050" dirty="0">
                <a:solidFill>
                  <a:schemeClr val="tx1"/>
                </a:solidFill>
                <a:latin typeface="+mj-lt"/>
              </a:rPr>
              <a:t>Längste bewohnte Brücke Europas</a:t>
            </a:r>
          </a:p>
        </p:txBody>
      </p:sp>
      <p:sp>
        <p:nvSpPr>
          <p:cNvPr id="21" name="Textfeld 20">
            <a:extLst>
              <a:ext uri="{FF2B5EF4-FFF2-40B4-BE49-F238E27FC236}">
                <a16:creationId xmlns:a16="http://schemas.microsoft.com/office/drawing/2014/main" id="{93BC9910-85E4-19F3-6867-03211BCDDCA4}"/>
              </a:ext>
            </a:extLst>
          </p:cNvPr>
          <p:cNvSpPr txBox="1"/>
          <p:nvPr/>
        </p:nvSpPr>
        <p:spPr>
          <a:xfrm>
            <a:off x="11756874" y="6591601"/>
            <a:ext cx="763572" cy="246221"/>
          </a:xfrm>
          <a:prstGeom prst="rect">
            <a:avLst/>
          </a:prstGeom>
          <a:noFill/>
        </p:spPr>
        <p:txBody>
          <a:bodyPr wrap="square" rtlCol="0">
            <a:spAutoFit/>
          </a:bodyPr>
          <a:lstStyle/>
          <a:p>
            <a:r>
              <a:rPr lang="de-DE" sz="1000" dirty="0"/>
              <a:t>2/12</a:t>
            </a:r>
          </a:p>
        </p:txBody>
      </p:sp>
    </p:spTree>
    <p:extLst>
      <p:ext uri="{BB962C8B-B14F-4D97-AF65-F5344CB8AC3E}">
        <p14:creationId xmlns:p14="http://schemas.microsoft.com/office/powerpoint/2010/main" val="2729338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BDC62-E2F3-672C-5C10-E70B9814A1AE}"/>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0F77D0D3-79F4-19CD-238B-60CAC4DCDA66}"/>
              </a:ext>
            </a:extLst>
          </p:cNvPr>
          <p:cNvSpPr/>
          <p:nvPr/>
        </p:nvSpPr>
        <p:spPr>
          <a:xfrm>
            <a:off x="671375" y="1148994"/>
            <a:ext cx="6296860" cy="2202780"/>
          </a:xfrm>
          <a:prstGeom prst="rect">
            <a:avLst/>
          </a:prstGeom>
          <a:noFill/>
          <a:ln/>
        </p:spPr>
        <p:txBody>
          <a:bodyPr wrap="square" lIns="0" tIns="0" rIns="0" bIns="0" rtlCol="0" anchor="t">
            <a:normAutofit/>
          </a:bodyPr>
          <a:lstStyle/>
          <a:p>
            <a:r>
              <a:rPr lang="de-DE" sz="4000" dirty="0"/>
              <a:t>Inhaltsverzeichnis</a:t>
            </a:r>
            <a:endParaRPr lang="en-US" sz="3700" dirty="0"/>
          </a:p>
        </p:txBody>
      </p:sp>
      <p:sp>
        <p:nvSpPr>
          <p:cNvPr id="4" name="Text 1">
            <a:extLst>
              <a:ext uri="{FF2B5EF4-FFF2-40B4-BE49-F238E27FC236}">
                <a16:creationId xmlns:a16="http://schemas.microsoft.com/office/drawing/2014/main" id="{91FA052C-A841-DA99-271F-A2E81D15E1FF}"/>
              </a:ext>
            </a:extLst>
          </p:cNvPr>
          <p:cNvSpPr/>
          <p:nvPr/>
        </p:nvSpPr>
        <p:spPr>
          <a:xfrm>
            <a:off x="671375" y="2356338"/>
            <a:ext cx="6724632" cy="405913"/>
          </a:xfrm>
          <a:prstGeom prst="rect">
            <a:avLst/>
          </a:prstGeom>
          <a:noFill/>
          <a:ln/>
        </p:spPr>
        <p:txBody>
          <a:bodyPr wrap="square" lIns="0" tIns="0" rIns="0" bIns="0" rtlCol="0" anchor="t">
            <a:noAutofit/>
          </a:bodyPr>
          <a:lstStyle/>
          <a:p>
            <a:pPr marL="342900" indent="-342900">
              <a:lnSpc>
                <a:spcPct val="150000"/>
              </a:lnSpc>
              <a:buFont typeface="+mj-lt"/>
              <a:buAutoNum type="arabicPeriod"/>
            </a:pPr>
            <a:r>
              <a:rPr lang="de-DE" dirty="0"/>
              <a:t>Datengrundlage und Kernthese</a:t>
            </a:r>
          </a:p>
          <a:p>
            <a:pPr marL="342900" indent="-342900">
              <a:lnSpc>
                <a:spcPct val="150000"/>
              </a:lnSpc>
              <a:buFont typeface="+mj-lt"/>
              <a:buAutoNum type="arabicPeriod"/>
            </a:pPr>
            <a:r>
              <a:rPr lang="de-DE" dirty="0"/>
              <a:t>H1: Preisentwicklung und Phasen</a:t>
            </a:r>
          </a:p>
          <a:p>
            <a:pPr marL="342900" indent="-342900">
              <a:lnSpc>
                <a:spcPct val="150000"/>
              </a:lnSpc>
              <a:buFont typeface="+mj-lt"/>
              <a:buAutoNum type="arabicPeriod"/>
            </a:pPr>
            <a:r>
              <a:rPr lang="de-DE" dirty="0"/>
              <a:t>H1: Krisenvergleich, Finanzkrise 2008 versus Zinswende 2022/23</a:t>
            </a:r>
          </a:p>
          <a:p>
            <a:pPr marL="342900" indent="-342900">
              <a:lnSpc>
                <a:spcPct val="150000"/>
              </a:lnSpc>
              <a:buFont typeface="+mj-lt"/>
              <a:buAutoNum type="arabicPeriod"/>
            </a:pPr>
            <a:r>
              <a:rPr lang="de-DE" dirty="0"/>
              <a:t>H2: Preisschere zwischen den Städten</a:t>
            </a:r>
          </a:p>
          <a:p>
            <a:pPr marL="342900" indent="-342900">
              <a:lnSpc>
                <a:spcPct val="150000"/>
              </a:lnSpc>
              <a:buFont typeface="+mj-lt"/>
              <a:buAutoNum type="arabicPeriod"/>
            </a:pPr>
            <a:r>
              <a:rPr lang="de-DE" dirty="0"/>
              <a:t>H2: Gewinner und Verlierer im Städtevergleich</a:t>
            </a:r>
          </a:p>
          <a:p>
            <a:pPr marL="342900" indent="-342900">
              <a:lnSpc>
                <a:spcPct val="150000"/>
              </a:lnSpc>
              <a:buFont typeface="+mj-lt"/>
              <a:buAutoNum type="arabicPeriod"/>
            </a:pPr>
            <a:r>
              <a:rPr lang="de-DE" dirty="0"/>
              <a:t>H3: Preisentwicklung nach Immobilientyp</a:t>
            </a:r>
          </a:p>
          <a:p>
            <a:pPr marL="342900" indent="-342900">
              <a:lnSpc>
                <a:spcPct val="150000"/>
              </a:lnSpc>
              <a:buFont typeface="+mj-lt"/>
              <a:buAutoNum type="arabicPeriod"/>
            </a:pPr>
            <a:r>
              <a:rPr lang="de-DE" dirty="0"/>
              <a:t>Zusatzbefund: Mehrfamilienhäuser als eigener Markttrend</a:t>
            </a:r>
          </a:p>
          <a:p>
            <a:pPr marL="342900" indent="-342900">
              <a:lnSpc>
                <a:spcPct val="150000"/>
              </a:lnSpc>
              <a:buFont typeface="+mj-lt"/>
              <a:buAutoNum type="arabicPeriod"/>
            </a:pPr>
            <a:r>
              <a:rPr lang="de-DE" dirty="0"/>
              <a:t>Finanzierbarkeit im Zeitverlauf und im Städtevergleich</a:t>
            </a:r>
          </a:p>
          <a:p>
            <a:pPr marL="342900" indent="-342900">
              <a:lnSpc>
                <a:spcPct val="150000"/>
              </a:lnSpc>
              <a:buFont typeface="+mj-lt"/>
              <a:buAutoNum type="arabicPeriod"/>
            </a:pPr>
            <a:r>
              <a:rPr lang="de-DE" dirty="0"/>
              <a:t>Gesamtfazit</a:t>
            </a:r>
          </a:p>
        </p:txBody>
      </p:sp>
      <p:pic>
        <p:nvPicPr>
          <p:cNvPr id="5" name="Grafik 4">
            <a:extLst>
              <a:ext uri="{FF2B5EF4-FFF2-40B4-BE49-F238E27FC236}">
                <a16:creationId xmlns:a16="http://schemas.microsoft.com/office/drawing/2014/main" id="{48B4C64D-778E-340B-47BC-A249E78DB222}"/>
              </a:ext>
            </a:extLst>
          </p:cNvPr>
          <p:cNvPicPr>
            <a:picLocks noChangeAspect="1"/>
          </p:cNvPicPr>
          <p:nvPr/>
        </p:nvPicPr>
        <p:blipFill>
          <a:blip r:embed="rId3"/>
          <a:srcRect l="-5563" r="16758"/>
          <a:stretch>
            <a:fillRect/>
          </a:stretch>
        </p:blipFill>
        <p:spPr>
          <a:xfrm>
            <a:off x="7339149" y="0"/>
            <a:ext cx="4852851" cy="6858000"/>
          </a:xfrm>
          <a:prstGeom prst="rect">
            <a:avLst/>
          </a:prstGeom>
        </p:spPr>
      </p:pic>
      <p:sp>
        <p:nvSpPr>
          <p:cNvPr id="7" name="Rechteck: abgerundete Ecken 6">
            <a:extLst>
              <a:ext uri="{FF2B5EF4-FFF2-40B4-BE49-F238E27FC236}">
                <a16:creationId xmlns:a16="http://schemas.microsoft.com/office/drawing/2014/main" id="{64F53F55-7750-2915-F222-065CDC0689BE}"/>
              </a:ext>
            </a:extLst>
          </p:cNvPr>
          <p:cNvSpPr/>
          <p:nvPr/>
        </p:nvSpPr>
        <p:spPr>
          <a:xfrm>
            <a:off x="10139423" y="6377940"/>
            <a:ext cx="2052577" cy="439703"/>
          </a:xfrm>
          <a:prstGeom prst="roundRect">
            <a:avLst/>
          </a:prstGeom>
          <a:blipFill>
            <a:blip r:embed="rId4"/>
            <a:tile tx="0" ty="0" sx="100000" sy="100000" flip="none" algn="tl"/>
          </a:blipFill>
          <a:ln>
            <a:noFill/>
          </a:ln>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de-DE" sz="1000" b="1" dirty="0">
                <a:solidFill>
                  <a:schemeClr val="tx1"/>
                </a:solidFill>
                <a:latin typeface="+mj-lt"/>
              </a:rPr>
              <a:t>Hamburg</a:t>
            </a:r>
            <a:br>
              <a:rPr lang="de-DE" sz="1000" dirty="0">
                <a:solidFill>
                  <a:schemeClr val="tx1"/>
                </a:solidFill>
                <a:latin typeface="+mj-lt"/>
              </a:rPr>
            </a:br>
            <a:r>
              <a:rPr lang="de-DE" sz="1000" dirty="0">
                <a:solidFill>
                  <a:schemeClr val="tx1"/>
                </a:solidFill>
                <a:latin typeface="+mj-lt"/>
              </a:rPr>
              <a:t>Zweitgrößte Stadt </a:t>
            </a:r>
            <a:r>
              <a:rPr lang="de-DE" sz="1050" dirty="0">
                <a:solidFill>
                  <a:schemeClr val="tx1"/>
                </a:solidFill>
                <a:latin typeface="+mj-lt"/>
              </a:rPr>
              <a:t>Deutschlands</a:t>
            </a:r>
          </a:p>
        </p:txBody>
      </p:sp>
    </p:spTree>
    <p:extLst>
      <p:ext uri="{BB962C8B-B14F-4D97-AF65-F5344CB8AC3E}">
        <p14:creationId xmlns:p14="http://schemas.microsoft.com/office/powerpoint/2010/main" val="2194824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C8023-2C50-170F-2F8E-E84A84E62F04}"/>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604195A4-38E4-2551-8C85-884872A9001E}"/>
              </a:ext>
            </a:extLst>
          </p:cNvPr>
          <p:cNvSpPr/>
          <p:nvPr/>
        </p:nvSpPr>
        <p:spPr>
          <a:xfrm>
            <a:off x="5325128" y="868680"/>
            <a:ext cx="6296860" cy="1649496"/>
          </a:xfrm>
          <a:prstGeom prst="rect">
            <a:avLst/>
          </a:prstGeom>
          <a:noFill/>
          <a:ln/>
        </p:spPr>
        <p:txBody>
          <a:bodyPr wrap="square" lIns="0" tIns="0" rIns="0" bIns="0" rtlCol="0" anchor="t">
            <a:normAutofit/>
          </a:bodyPr>
          <a:lstStyle/>
          <a:p>
            <a:r>
              <a:rPr lang="de-DE" sz="4000" dirty="0"/>
              <a:t>Datengrundlage und Kernthese</a:t>
            </a:r>
          </a:p>
        </p:txBody>
      </p:sp>
      <p:sp>
        <p:nvSpPr>
          <p:cNvPr id="6" name="Shape 8">
            <a:extLst>
              <a:ext uri="{FF2B5EF4-FFF2-40B4-BE49-F238E27FC236}">
                <a16:creationId xmlns:a16="http://schemas.microsoft.com/office/drawing/2014/main" id="{B7F752A0-9038-E4A1-055C-A2A67F9E4CA8}"/>
              </a:ext>
            </a:extLst>
          </p:cNvPr>
          <p:cNvSpPr/>
          <p:nvPr/>
        </p:nvSpPr>
        <p:spPr>
          <a:xfrm>
            <a:off x="5164710" y="4419832"/>
            <a:ext cx="6573899" cy="1383345"/>
          </a:xfrm>
          <a:prstGeom prst="roundRect">
            <a:avLst>
              <a:gd name="adj" fmla="val 7205"/>
            </a:avLst>
          </a:prstGeom>
          <a:solidFill>
            <a:srgbClr val="DFECE9"/>
          </a:solidFill>
          <a:ln w="6350">
            <a:solidFill>
              <a:srgbClr val="C5D2CF"/>
            </a:solidFill>
            <a:prstDash val="solid"/>
          </a:ln>
          <a:effectLst>
            <a:outerShdw blurRad="50800" dist="38100" dir="2700000" algn="tl" rotWithShape="0">
              <a:prstClr val="black">
                <a:alpha val="40000"/>
              </a:prstClr>
            </a:outerShdw>
          </a:effectLst>
        </p:spPr>
        <p:txBody>
          <a:bodyPr/>
          <a:lstStyle/>
          <a:p>
            <a:endParaRPr lang="de-DE"/>
          </a:p>
        </p:txBody>
      </p:sp>
      <p:sp>
        <p:nvSpPr>
          <p:cNvPr id="4" name="Text 1">
            <a:extLst>
              <a:ext uri="{FF2B5EF4-FFF2-40B4-BE49-F238E27FC236}">
                <a16:creationId xmlns:a16="http://schemas.microsoft.com/office/drawing/2014/main" id="{46CA9431-DCBC-C33F-BB48-D0DFFFC334B2}"/>
              </a:ext>
            </a:extLst>
          </p:cNvPr>
          <p:cNvSpPr/>
          <p:nvPr/>
        </p:nvSpPr>
        <p:spPr>
          <a:xfrm>
            <a:off x="5325128" y="2518176"/>
            <a:ext cx="6296860" cy="1149235"/>
          </a:xfrm>
          <a:prstGeom prst="rect">
            <a:avLst/>
          </a:prstGeom>
          <a:noFill/>
          <a:ln/>
        </p:spPr>
        <p:txBody>
          <a:bodyPr wrap="square" lIns="0" tIns="0" rIns="0" bIns="0" rtlCol="0" anchor="t">
            <a:noAutofit/>
          </a:bodyPr>
          <a:lstStyle/>
          <a:p>
            <a:pPr algn="just"/>
            <a:r>
              <a:rPr lang="de-DE" dirty="0"/>
              <a:t>Datensatz aus GREIX-Transaktionspreisen, City-</a:t>
            </a:r>
            <a:r>
              <a:rPr lang="de-DE" dirty="0" err="1"/>
              <a:t>Metrics</a:t>
            </a:r>
            <a:r>
              <a:rPr lang="de-DE" dirty="0"/>
              <a:t> und Erschwinglichkeitsindikatoren des Kiel-Instituts, 21 deutsche Städte, drei Immobilientypen, 2005 bis 2024. Ein vermuteter Merge-Fehler beim Datensatz-Aufbau erzeugte widersprüchliche Werte je Stadt und Quartal in mehreren Spalten, diese wurden ausgeschlossen.</a:t>
            </a:r>
          </a:p>
          <a:p>
            <a:endParaRPr lang="de-DE" dirty="0"/>
          </a:p>
          <a:p>
            <a:endParaRPr lang="de-DE" dirty="0"/>
          </a:p>
          <a:p>
            <a:endParaRPr lang="de-DE" dirty="0"/>
          </a:p>
          <a:p>
            <a:pPr algn="just"/>
            <a:r>
              <a:rPr lang="de-DE" b="1" dirty="0"/>
              <a:t>Kernthese:</a:t>
            </a:r>
            <a:r>
              <a:rPr lang="de-DE" dirty="0"/>
              <a:t> Der Markt ist kein einheitlicher Markt, Preise stiegen, die Schere zwischen Städten öffnete sich, Wohnungen stiegen stärker als Einfamilienhäuser.</a:t>
            </a:r>
          </a:p>
          <a:p>
            <a:pPr algn="just"/>
            <a:endParaRPr lang="en-US" dirty="0"/>
          </a:p>
        </p:txBody>
      </p:sp>
      <p:pic>
        <p:nvPicPr>
          <p:cNvPr id="5" name="Grafik 4">
            <a:extLst>
              <a:ext uri="{FF2B5EF4-FFF2-40B4-BE49-F238E27FC236}">
                <a16:creationId xmlns:a16="http://schemas.microsoft.com/office/drawing/2014/main" id="{29265CD2-D200-D0B5-9929-3B56D1CADD3D}"/>
              </a:ext>
            </a:extLst>
          </p:cNvPr>
          <p:cNvPicPr>
            <a:picLocks noChangeAspect="1"/>
          </p:cNvPicPr>
          <p:nvPr/>
        </p:nvPicPr>
        <p:blipFill>
          <a:blip r:embed="rId3"/>
          <a:srcRect l="-5563" r="16758"/>
          <a:stretch>
            <a:fillRect/>
          </a:stretch>
        </p:blipFill>
        <p:spPr>
          <a:xfrm>
            <a:off x="-336189" y="0"/>
            <a:ext cx="4852851" cy="6858000"/>
          </a:xfrm>
          <a:prstGeom prst="rect">
            <a:avLst/>
          </a:prstGeom>
        </p:spPr>
      </p:pic>
      <p:pic>
        <p:nvPicPr>
          <p:cNvPr id="8" name="Grafik 7">
            <a:extLst>
              <a:ext uri="{FF2B5EF4-FFF2-40B4-BE49-F238E27FC236}">
                <a16:creationId xmlns:a16="http://schemas.microsoft.com/office/drawing/2014/main" id="{4AC990E9-08D3-419D-CD87-BEA2DCDE4205}"/>
              </a:ext>
            </a:extLst>
          </p:cNvPr>
          <p:cNvPicPr>
            <a:picLocks noChangeAspect="1"/>
          </p:cNvPicPr>
          <p:nvPr/>
        </p:nvPicPr>
        <p:blipFill>
          <a:blip r:embed="rId4"/>
          <a:stretch>
            <a:fillRect/>
          </a:stretch>
        </p:blipFill>
        <p:spPr>
          <a:xfrm>
            <a:off x="-53121" y="0"/>
            <a:ext cx="4569783" cy="6858000"/>
          </a:xfrm>
          <a:prstGeom prst="rect">
            <a:avLst/>
          </a:prstGeom>
        </p:spPr>
      </p:pic>
      <p:sp>
        <p:nvSpPr>
          <p:cNvPr id="2" name="Rechteck 1">
            <a:extLst>
              <a:ext uri="{FF2B5EF4-FFF2-40B4-BE49-F238E27FC236}">
                <a16:creationId xmlns:a16="http://schemas.microsoft.com/office/drawing/2014/main" id="{D9BA0455-29F0-52E9-8807-26DEA6494555}"/>
              </a:ext>
            </a:extLst>
          </p:cNvPr>
          <p:cNvSpPr/>
          <p:nvPr/>
        </p:nvSpPr>
        <p:spPr>
          <a:xfrm>
            <a:off x="10599420" y="6527942"/>
            <a:ext cx="1539240" cy="3300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B46391FC-5A88-412B-1D03-4268ECDB9020}"/>
              </a:ext>
            </a:extLst>
          </p:cNvPr>
          <p:cNvSpPr/>
          <p:nvPr/>
        </p:nvSpPr>
        <p:spPr>
          <a:xfrm>
            <a:off x="-1" y="6240780"/>
            <a:ext cx="4320541" cy="597042"/>
          </a:xfrm>
          <a:prstGeom prst="rect">
            <a:avLst/>
          </a:prstGeom>
          <a:blipFill>
            <a:blip r:embed="rId5"/>
            <a:tile tx="0" ty="0" sx="100000" sy="100000" flip="none" algn="tl"/>
          </a:blipFill>
          <a:ln>
            <a:noFill/>
          </a:ln>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050" b="1" dirty="0">
                <a:solidFill>
                  <a:schemeClr val="tx1"/>
                </a:solidFill>
                <a:latin typeface="+mj-lt"/>
              </a:rPr>
              <a:t>München</a:t>
            </a:r>
            <a:br>
              <a:rPr lang="de-DE" sz="1050" dirty="0">
                <a:solidFill>
                  <a:schemeClr val="tx1"/>
                </a:solidFill>
                <a:latin typeface="+mj-lt"/>
              </a:rPr>
            </a:br>
            <a:r>
              <a:rPr lang="de-DE" sz="1050" dirty="0">
                <a:solidFill>
                  <a:schemeClr val="tx1"/>
                </a:solidFill>
                <a:latin typeface="+mj-lt"/>
              </a:rPr>
              <a:t>Eine Maß Bier kostet  auf dem diesjährigen Oktoberfest zwischen 14,80 und 15,90 €  </a:t>
            </a:r>
          </a:p>
        </p:txBody>
      </p:sp>
    </p:spTree>
    <p:extLst>
      <p:ext uri="{BB962C8B-B14F-4D97-AF65-F5344CB8AC3E}">
        <p14:creationId xmlns:p14="http://schemas.microsoft.com/office/powerpoint/2010/main" val="2384670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83" y="322657"/>
            <a:ext cx="10868745" cy="552351"/>
          </a:xfrm>
          <a:prstGeom prst="rect">
            <a:avLst/>
          </a:prstGeom>
          <a:noFill/>
          <a:ln/>
        </p:spPr>
        <p:txBody>
          <a:bodyPr wrap="none" lIns="0" tIns="0" rIns="0" bIns="0" rtlCol="0" anchor="t"/>
          <a:lstStyle/>
          <a:p>
            <a:pPr marL="0" indent="0" algn="l">
              <a:lnSpc>
                <a:spcPct val="104000"/>
              </a:lnSpc>
              <a:buNone/>
            </a:pPr>
            <a:r>
              <a:rPr lang="en-US" sz="3450" dirty="0">
                <a:solidFill>
                  <a:srgbClr val="272D45"/>
                </a:solidFill>
                <a:latin typeface="Kanit Light" pitchFamily="34" charset="0"/>
                <a:ea typeface="Kanit Light" pitchFamily="34" charset="-122"/>
                <a:cs typeface="Kanit Light" pitchFamily="34" charset="-120"/>
              </a:rPr>
              <a:t>H1: Preisentwicklung und Phasen</a:t>
            </a:r>
            <a:endParaRPr lang="en-US" sz="3450" dirty="0"/>
          </a:p>
        </p:txBody>
      </p:sp>
      <p:sp>
        <p:nvSpPr>
          <p:cNvPr id="3" name="Text 1"/>
          <p:cNvSpPr/>
          <p:nvPr/>
        </p:nvSpPr>
        <p:spPr>
          <a:xfrm>
            <a:off x="661475" y="990411"/>
            <a:ext cx="10843921" cy="820936"/>
          </a:xfrm>
          <a:prstGeom prst="rect">
            <a:avLst/>
          </a:prstGeom>
          <a:noFill/>
          <a:ln/>
        </p:spPr>
        <p:txBody>
          <a:bodyPr wrap="square" lIns="0" tIns="0" rIns="0" bIns="0" rtlCol="0" anchor="t">
            <a:normAutofit/>
          </a:bodyPr>
          <a:lstStyle/>
          <a:p>
            <a:pPr marL="0" indent="0" algn="just">
              <a:lnSpc>
                <a:spcPct val="129000"/>
              </a:lnSpc>
              <a:buNone/>
            </a:pPr>
            <a:r>
              <a:rPr lang="en-US" sz="1350" dirty="0">
                <a:solidFill>
                  <a:srgbClr val="2C3249"/>
                </a:solidFill>
                <a:latin typeface="Martel Sans" pitchFamily="34" charset="0"/>
                <a:ea typeface="Martel Sans" pitchFamily="34" charset="-122"/>
                <a:cs typeface="Martel Sans" pitchFamily="34" charset="-120"/>
              </a:rPr>
              <a:t>Preis stieg von 1.700 Euro (2005) auf 4.300 Euro (Anfang 2022) je Quadratmeter. Vier Phasen: Finanzkrise 2005-2008 (minus 0,12 % pro Jahr), moderate Erholung 2009-2014 (4,13 %), Boomphase 2015-2021 (9,14 % pro Jahr, jedes Jahr über 6,9 %), Korrektur ab 2022 (minus 2,92 %, konzentriert auf 2023 mit minus 12,27 %).</a:t>
            </a:r>
            <a:endParaRPr lang="en-US" sz="1350" dirty="0"/>
          </a:p>
        </p:txBody>
      </p:sp>
      <p:pic>
        <p:nvPicPr>
          <p:cNvPr id="4" name="Image 0" descr="preencoded.png"/>
          <p:cNvPicPr>
            <a:picLocks noChangeAspect="1"/>
          </p:cNvPicPr>
          <p:nvPr/>
        </p:nvPicPr>
        <p:blipFill>
          <a:blip r:embed="rId3"/>
          <a:stretch>
            <a:fillRect/>
          </a:stretch>
        </p:blipFill>
        <p:spPr>
          <a:xfrm>
            <a:off x="661475" y="1989528"/>
            <a:ext cx="2007611" cy="439242"/>
          </a:xfrm>
          <a:prstGeom prst="rect">
            <a:avLst/>
          </a:prstGeom>
          <a:effectLst>
            <a:outerShdw blurRad="50800" dist="38100" dir="2700000" algn="tl" rotWithShape="0">
              <a:prstClr val="black">
                <a:alpha val="40000"/>
              </a:prstClr>
            </a:outerShdw>
          </a:effectLst>
        </p:spPr>
      </p:pic>
      <p:sp>
        <p:nvSpPr>
          <p:cNvPr id="5" name="Text 2"/>
          <p:cNvSpPr/>
          <p:nvPr/>
        </p:nvSpPr>
        <p:spPr>
          <a:xfrm>
            <a:off x="661483" y="2489335"/>
            <a:ext cx="5080964" cy="276126"/>
          </a:xfrm>
          <a:prstGeom prst="rect">
            <a:avLst/>
          </a:prstGeom>
          <a:noFill/>
          <a:ln/>
        </p:spPr>
        <p:txBody>
          <a:bodyPr wrap="none" lIns="0" tIns="0" rIns="0" bIns="0" rtlCol="0" anchor="t"/>
          <a:lstStyle/>
          <a:p>
            <a:pPr marL="0" indent="0" algn="l">
              <a:lnSpc>
                <a:spcPct val="104000"/>
              </a:lnSpc>
              <a:buNone/>
            </a:pPr>
            <a:r>
              <a:rPr lang="en-US" sz="1700" dirty="0">
                <a:solidFill>
                  <a:srgbClr val="2C3249"/>
                </a:solidFill>
                <a:latin typeface="Kanit Light" pitchFamily="34" charset="0"/>
                <a:ea typeface="Kanit Light" pitchFamily="34" charset="-122"/>
                <a:cs typeface="Kanit Light" pitchFamily="34" charset="-120"/>
              </a:rPr>
              <a:t>Finanzkrise 2005–2008</a:t>
            </a:r>
            <a:endParaRPr lang="en-US" sz="1700" dirty="0"/>
          </a:p>
        </p:txBody>
      </p:sp>
      <p:sp>
        <p:nvSpPr>
          <p:cNvPr id="6" name="Text 3"/>
          <p:cNvSpPr/>
          <p:nvPr/>
        </p:nvSpPr>
        <p:spPr>
          <a:xfrm>
            <a:off x="686603" y="2732847"/>
            <a:ext cx="5080964" cy="273645"/>
          </a:xfrm>
          <a:prstGeom prst="rect">
            <a:avLst/>
          </a:prstGeom>
          <a:noFill/>
          <a:ln/>
        </p:spPr>
        <p:txBody>
          <a:bodyPr wrap="none" lIns="0" tIns="0" rIns="0" bIns="0" rtlCol="0" anchor="t"/>
          <a:lstStyle/>
          <a:p>
            <a:pPr marL="0" indent="0" algn="l">
              <a:lnSpc>
                <a:spcPct val="129000"/>
              </a:lnSpc>
              <a:buNone/>
            </a:pPr>
            <a:r>
              <a:rPr lang="en-US" sz="1350" dirty="0">
                <a:solidFill>
                  <a:srgbClr val="2C3249"/>
                </a:solidFill>
                <a:latin typeface="Martel Sans" pitchFamily="34" charset="0"/>
                <a:ea typeface="Martel Sans" pitchFamily="34" charset="-122"/>
                <a:cs typeface="Martel Sans" pitchFamily="34" charset="-120"/>
              </a:rPr>
              <a:t>minus 0,12 % pro Jahr</a:t>
            </a:r>
            <a:endParaRPr lang="en-US" sz="1350" dirty="0"/>
          </a:p>
        </p:txBody>
      </p:sp>
      <p:pic>
        <p:nvPicPr>
          <p:cNvPr id="7" name="Image 1" descr="preencoded.png"/>
          <p:cNvPicPr>
            <a:picLocks noChangeAspect="1"/>
          </p:cNvPicPr>
          <p:nvPr/>
        </p:nvPicPr>
        <p:blipFill>
          <a:blip r:embed="rId4"/>
          <a:stretch>
            <a:fillRect/>
          </a:stretch>
        </p:blipFill>
        <p:spPr>
          <a:xfrm>
            <a:off x="661474" y="3116011"/>
            <a:ext cx="2007611" cy="439241"/>
          </a:xfrm>
          <a:prstGeom prst="rect">
            <a:avLst/>
          </a:prstGeom>
          <a:effectLst>
            <a:outerShdw blurRad="50800" dist="38100" dir="2700000" algn="tl" rotWithShape="0">
              <a:prstClr val="black">
                <a:alpha val="40000"/>
              </a:prstClr>
            </a:outerShdw>
          </a:effectLst>
        </p:spPr>
      </p:pic>
      <p:sp>
        <p:nvSpPr>
          <p:cNvPr id="8" name="Text 4"/>
          <p:cNvSpPr/>
          <p:nvPr/>
        </p:nvSpPr>
        <p:spPr>
          <a:xfrm>
            <a:off x="686603" y="3677117"/>
            <a:ext cx="5080964" cy="276126"/>
          </a:xfrm>
          <a:prstGeom prst="rect">
            <a:avLst/>
          </a:prstGeom>
          <a:noFill/>
          <a:ln/>
        </p:spPr>
        <p:txBody>
          <a:bodyPr wrap="none" lIns="0" tIns="0" rIns="0" bIns="0" rtlCol="0" anchor="t"/>
          <a:lstStyle/>
          <a:p>
            <a:pPr marL="0" indent="0" algn="l">
              <a:lnSpc>
                <a:spcPct val="104000"/>
              </a:lnSpc>
              <a:buNone/>
            </a:pPr>
            <a:r>
              <a:rPr lang="en-US" sz="1700" dirty="0">
                <a:solidFill>
                  <a:srgbClr val="2C3249"/>
                </a:solidFill>
                <a:latin typeface="Kanit Light" pitchFamily="34" charset="0"/>
                <a:ea typeface="Kanit Light" pitchFamily="34" charset="-122"/>
                <a:cs typeface="Kanit Light" pitchFamily="34" charset="-120"/>
              </a:rPr>
              <a:t>Erholung 2009–2014</a:t>
            </a:r>
            <a:endParaRPr lang="en-US" sz="1700" dirty="0"/>
          </a:p>
        </p:txBody>
      </p:sp>
      <p:sp>
        <p:nvSpPr>
          <p:cNvPr id="9" name="Text 5"/>
          <p:cNvSpPr/>
          <p:nvPr/>
        </p:nvSpPr>
        <p:spPr>
          <a:xfrm>
            <a:off x="686603" y="3956348"/>
            <a:ext cx="5080964" cy="273645"/>
          </a:xfrm>
          <a:prstGeom prst="rect">
            <a:avLst/>
          </a:prstGeom>
          <a:noFill/>
          <a:ln/>
        </p:spPr>
        <p:txBody>
          <a:bodyPr wrap="none" lIns="0" tIns="0" rIns="0" bIns="0" rtlCol="0" anchor="t"/>
          <a:lstStyle/>
          <a:p>
            <a:pPr marL="0" indent="0" algn="l">
              <a:lnSpc>
                <a:spcPct val="129000"/>
              </a:lnSpc>
              <a:buNone/>
            </a:pPr>
            <a:r>
              <a:rPr lang="en-US" sz="1350" dirty="0">
                <a:solidFill>
                  <a:srgbClr val="2C3249"/>
                </a:solidFill>
                <a:latin typeface="Martel Sans" pitchFamily="34" charset="0"/>
                <a:ea typeface="Martel Sans" pitchFamily="34" charset="-122"/>
                <a:cs typeface="Martel Sans" pitchFamily="34" charset="-120"/>
              </a:rPr>
              <a:t>4,13 % pro Jahr</a:t>
            </a:r>
            <a:endParaRPr lang="en-US" sz="1350" dirty="0"/>
          </a:p>
        </p:txBody>
      </p:sp>
      <p:pic>
        <p:nvPicPr>
          <p:cNvPr id="10" name="Image 2" descr="preencoded.png"/>
          <p:cNvPicPr>
            <a:picLocks noChangeAspect="1"/>
          </p:cNvPicPr>
          <p:nvPr/>
        </p:nvPicPr>
        <p:blipFill>
          <a:blip r:embed="rId5"/>
          <a:stretch>
            <a:fillRect/>
          </a:stretch>
        </p:blipFill>
        <p:spPr>
          <a:xfrm>
            <a:off x="686603" y="4277303"/>
            <a:ext cx="2007611" cy="452575"/>
          </a:xfrm>
          <a:prstGeom prst="rect">
            <a:avLst/>
          </a:prstGeom>
          <a:effectLst>
            <a:outerShdw blurRad="50800" dist="38100" dir="2700000" algn="tl" rotWithShape="0">
              <a:prstClr val="black">
                <a:alpha val="40000"/>
              </a:prstClr>
            </a:outerShdw>
          </a:effectLst>
        </p:spPr>
      </p:pic>
      <p:sp>
        <p:nvSpPr>
          <p:cNvPr id="11" name="Text 6"/>
          <p:cNvSpPr/>
          <p:nvPr/>
        </p:nvSpPr>
        <p:spPr>
          <a:xfrm>
            <a:off x="661474" y="4799894"/>
            <a:ext cx="5080964" cy="276126"/>
          </a:xfrm>
          <a:prstGeom prst="rect">
            <a:avLst/>
          </a:prstGeom>
          <a:noFill/>
          <a:ln/>
        </p:spPr>
        <p:txBody>
          <a:bodyPr wrap="none" lIns="0" tIns="0" rIns="0" bIns="0" rtlCol="0" anchor="t"/>
          <a:lstStyle/>
          <a:p>
            <a:pPr marL="0" indent="0" algn="l">
              <a:lnSpc>
                <a:spcPct val="104000"/>
              </a:lnSpc>
              <a:buNone/>
            </a:pPr>
            <a:r>
              <a:rPr lang="en-US" sz="1700" dirty="0">
                <a:solidFill>
                  <a:srgbClr val="2C3249"/>
                </a:solidFill>
                <a:latin typeface="Kanit Light" pitchFamily="34" charset="0"/>
                <a:ea typeface="Kanit Light" pitchFamily="34" charset="-122"/>
                <a:cs typeface="Kanit Light" pitchFamily="34" charset="-120"/>
              </a:rPr>
              <a:t>Boomphase 2015–2021</a:t>
            </a:r>
            <a:endParaRPr lang="en-US" sz="1700" dirty="0"/>
          </a:p>
        </p:txBody>
      </p:sp>
      <p:sp>
        <p:nvSpPr>
          <p:cNvPr id="12" name="Text 7"/>
          <p:cNvSpPr/>
          <p:nvPr/>
        </p:nvSpPr>
        <p:spPr>
          <a:xfrm>
            <a:off x="686603" y="5089003"/>
            <a:ext cx="5080964" cy="273645"/>
          </a:xfrm>
          <a:prstGeom prst="rect">
            <a:avLst/>
          </a:prstGeom>
          <a:noFill/>
          <a:ln/>
        </p:spPr>
        <p:txBody>
          <a:bodyPr wrap="none" lIns="0" tIns="0" rIns="0" bIns="0" rtlCol="0" anchor="t"/>
          <a:lstStyle/>
          <a:p>
            <a:pPr marL="0" indent="0" algn="l">
              <a:lnSpc>
                <a:spcPct val="129000"/>
              </a:lnSpc>
              <a:buNone/>
            </a:pPr>
            <a:r>
              <a:rPr lang="en-US" sz="1350" dirty="0">
                <a:solidFill>
                  <a:srgbClr val="2C3249"/>
                </a:solidFill>
                <a:latin typeface="Martel Sans" pitchFamily="34" charset="0"/>
                <a:ea typeface="Martel Sans" pitchFamily="34" charset="-122"/>
                <a:cs typeface="Martel Sans" pitchFamily="34" charset="-120"/>
              </a:rPr>
              <a:t>9,14 % pro Jahr</a:t>
            </a:r>
            <a:endParaRPr lang="en-US" sz="1350" dirty="0"/>
          </a:p>
        </p:txBody>
      </p:sp>
      <p:pic>
        <p:nvPicPr>
          <p:cNvPr id="13" name="Image 3" descr="preencoded.png"/>
          <p:cNvPicPr>
            <a:picLocks noChangeAspect="1"/>
          </p:cNvPicPr>
          <p:nvPr/>
        </p:nvPicPr>
        <p:blipFill>
          <a:blip r:embed="rId6"/>
          <a:stretch>
            <a:fillRect/>
          </a:stretch>
        </p:blipFill>
        <p:spPr>
          <a:xfrm>
            <a:off x="661473" y="5420585"/>
            <a:ext cx="2007611" cy="439242"/>
          </a:xfrm>
          <a:prstGeom prst="rect">
            <a:avLst/>
          </a:prstGeom>
          <a:effectLst>
            <a:outerShdw blurRad="50800" dist="38100" dir="2700000" algn="tl" rotWithShape="0">
              <a:prstClr val="black">
                <a:alpha val="40000"/>
              </a:prstClr>
            </a:outerShdw>
          </a:effectLst>
        </p:spPr>
      </p:pic>
      <p:sp>
        <p:nvSpPr>
          <p:cNvPr id="14" name="Text 8"/>
          <p:cNvSpPr/>
          <p:nvPr/>
        </p:nvSpPr>
        <p:spPr>
          <a:xfrm>
            <a:off x="686603" y="5897889"/>
            <a:ext cx="5080964" cy="276126"/>
          </a:xfrm>
          <a:prstGeom prst="rect">
            <a:avLst/>
          </a:prstGeom>
          <a:noFill/>
          <a:ln/>
        </p:spPr>
        <p:txBody>
          <a:bodyPr wrap="none" lIns="0" tIns="0" rIns="0" bIns="0" rtlCol="0" anchor="t"/>
          <a:lstStyle/>
          <a:p>
            <a:pPr marL="0" indent="0" algn="l">
              <a:lnSpc>
                <a:spcPct val="104000"/>
              </a:lnSpc>
              <a:buNone/>
            </a:pPr>
            <a:r>
              <a:rPr lang="en-US" sz="1700" dirty="0">
                <a:solidFill>
                  <a:srgbClr val="2C3249"/>
                </a:solidFill>
                <a:latin typeface="Kanit Light" pitchFamily="34" charset="0"/>
                <a:ea typeface="Kanit Light" pitchFamily="34" charset="-122"/>
                <a:cs typeface="Kanit Light" pitchFamily="34" charset="-120"/>
              </a:rPr>
              <a:t>Korrektur ab 2022</a:t>
            </a:r>
            <a:endParaRPr lang="en-US" sz="1700" dirty="0"/>
          </a:p>
        </p:txBody>
      </p:sp>
      <p:sp>
        <p:nvSpPr>
          <p:cNvPr id="15" name="Text 9"/>
          <p:cNvSpPr/>
          <p:nvPr/>
        </p:nvSpPr>
        <p:spPr>
          <a:xfrm>
            <a:off x="686603" y="6183839"/>
            <a:ext cx="5080964" cy="273645"/>
          </a:xfrm>
          <a:prstGeom prst="rect">
            <a:avLst/>
          </a:prstGeom>
          <a:noFill/>
          <a:ln/>
        </p:spPr>
        <p:txBody>
          <a:bodyPr wrap="none" lIns="0" tIns="0" rIns="0" bIns="0" rtlCol="0" anchor="t"/>
          <a:lstStyle/>
          <a:p>
            <a:pPr marL="0" indent="0" algn="l">
              <a:lnSpc>
                <a:spcPct val="129000"/>
              </a:lnSpc>
              <a:buNone/>
            </a:pPr>
            <a:r>
              <a:rPr lang="en-US" sz="1350" dirty="0">
                <a:solidFill>
                  <a:srgbClr val="2C3249"/>
                </a:solidFill>
                <a:latin typeface="Martel Sans" pitchFamily="34" charset="0"/>
                <a:ea typeface="Martel Sans" pitchFamily="34" charset="-122"/>
                <a:cs typeface="Martel Sans" pitchFamily="34" charset="-120"/>
              </a:rPr>
              <a:t>minus 2,92 %</a:t>
            </a:r>
            <a:endParaRPr lang="en-US" sz="1350" dirty="0"/>
          </a:p>
        </p:txBody>
      </p:sp>
      <p:sp>
        <p:nvSpPr>
          <p:cNvPr id="16" name="Text 10"/>
          <p:cNvSpPr/>
          <p:nvPr/>
        </p:nvSpPr>
        <p:spPr>
          <a:xfrm>
            <a:off x="-2373667" y="6007714"/>
            <a:ext cx="11478330" cy="273645"/>
          </a:xfrm>
          <a:prstGeom prst="rect">
            <a:avLst/>
          </a:prstGeom>
          <a:noFill/>
          <a:ln/>
        </p:spPr>
        <p:txBody>
          <a:bodyPr wrap="none" lIns="0" tIns="0" rIns="0" bIns="0" rtlCol="0" anchor="t"/>
          <a:lstStyle/>
          <a:p>
            <a:pPr marL="0" indent="0" algn="l">
              <a:lnSpc>
                <a:spcPct val="129000"/>
              </a:lnSpc>
              <a:buNone/>
            </a:pPr>
            <a:endParaRPr lang="en-US" sz="1350" dirty="0"/>
          </a:p>
        </p:txBody>
      </p:sp>
      <p:sp>
        <p:nvSpPr>
          <p:cNvPr id="18" name="Rechteck 17">
            <a:extLst>
              <a:ext uri="{FF2B5EF4-FFF2-40B4-BE49-F238E27FC236}">
                <a16:creationId xmlns:a16="http://schemas.microsoft.com/office/drawing/2014/main" id="{ADDF471A-0332-F4D0-44E4-597E16C75F55}"/>
              </a:ext>
            </a:extLst>
          </p:cNvPr>
          <p:cNvSpPr/>
          <p:nvPr/>
        </p:nvSpPr>
        <p:spPr>
          <a:xfrm>
            <a:off x="10599420" y="6527942"/>
            <a:ext cx="1539240" cy="3300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2" name="Grafik 21">
            <a:extLst>
              <a:ext uri="{FF2B5EF4-FFF2-40B4-BE49-F238E27FC236}">
                <a16:creationId xmlns:a16="http://schemas.microsoft.com/office/drawing/2014/main" id="{2CD21D54-57EC-F2F1-DEC9-EF547ADF0813}"/>
              </a:ext>
            </a:extLst>
          </p:cNvPr>
          <p:cNvPicPr>
            <a:picLocks noChangeAspect="1"/>
          </p:cNvPicPr>
          <p:nvPr/>
        </p:nvPicPr>
        <p:blipFill>
          <a:blip r:embed="rId7"/>
          <a:stretch>
            <a:fillRect/>
          </a:stretch>
        </p:blipFill>
        <p:spPr>
          <a:xfrm>
            <a:off x="4464568" y="2027353"/>
            <a:ext cx="7040829" cy="4399629"/>
          </a:xfrm>
          <a:prstGeom prst="roundRect">
            <a:avLst>
              <a:gd name="adj" fmla="val 3735"/>
            </a:avLst>
          </a:prstGeom>
          <a:effectLst>
            <a:outerShdw blurRad="50800" dist="38100" dir="2700000" algn="tl" rotWithShape="0">
              <a:prstClr val="black">
                <a:alpha val="40000"/>
              </a:prstClr>
            </a:outerShdw>
          </a:effectLst>
        </p:spPr>
      </p:pic>
      <p:sp>
        <p:nvSpPr>
          <p:cNvPr id="26" name="Textfeld 25">
            <a:extLst>
              <a:ext uri="{FF2B5EF4-FFF2-40B4-BE49-F238E27FC236}">
                <a16:creationId xmlns:a16="http://schemas.microsoft.com/office/drawing/2014/main" id="{161FFCC9-1415-CCED-A4B9-02721ECA388E}"/>
              </a:ext>
            </a:extLst>
          </p:cNvPr>
          <p:cNvSpPr txBox="1"/>
          <p:nvPr/>
        </p:nvSpPr>
        <p:spPr>
          <a:xfrm>
            <a:off x="11756874" y="6591601"/>
            <a:ext cx="763572" cy="246221"/>
          </a:xfrm>
          <a:prstGeom prst="rect">
            <a:avLst/>
          </a:prstGeom>
          <a:noFill/>
        </p:spPr>
        <p:txBody>
          <a:bodyPr wrap="square" rtlCol="0">
            <a:spAutoFit/>
          </a:bodyPr>
          <a:lstStyle/>
          <a:p>
            <a:r>
              <a:rPr lang="de-DE" sz="1000" dirty="0"/>
              <a:t>5/12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700502" y="569069"/>
            <a:ext cx="11105418" cy="1249615"/>
          </a:xfrm>
          <a:prstGeom prst="rect">
            <a:avLst/>
          </a:prstGeom>
          <a:noFill/>
          <a:ln/>
        </p:spPr>
        <p:txBody>
          <a:bodyPr wrap="square" lIns="0" tIns="0" rIns="0" bIns="0" rtlCol="0" anchor="t">
            <a:normAutofit/>
          </a:bodyPr>
          <a:lstStyle/>
          <a:p>
            <a:pPr marL="0" indent="0">
              <a:lnSpc>
                <a:spcPct val="104000"/>
              </a:lnSpc>
              <a:buNone/>
            </a:pPr>
            <a:r>
              <a:rPr lang="en-US" sz="3700" dirty="0">
                <a:solidFill>
                  <a:srgbClr val="272D45"/>
                </a:solidFill>
                <a:latin typeface="Kanit Light" pitchFamily="34" charset="0"/>
                <a:ea typeface="Kanit Light" pitchFamily="34" charset="-122"/>
                <a:cs typeface="Kanit Light" pitchFamily="34" charset="-120"/>
              </a:rPr>
              <a:t>H1: Krisenvergleich, Finanzkrise 2008 versus Zins- </a:t>
            </a:r>
            <a:r>
              <a:rPr lang="en-US" sz="3700" dirty="0" err="1">
                <a:solidFill>
                  <a:srgbClr val="272D45"/>
                </a:solidFill>
                <a:latin typeface="Kanit Light" pitchFamily="34" charset="0"/>
                <a:ea typeface="Kanit Light" pitchFamily="34" charset="-122"/>
                <a:cs typeface="Kanit Light" pitchFamily="34" charset="-120"/>
              </a:rPr>
              <a:t>wende</a:t>
            </a:r>
            <a:r>
              <a:rPr lang="en-US" sz="3700" dirty="0">
                <a:solidFill>
                  <a:srgbClr val="272D45"/>
                </a:solidFill>
                <a:latin typeface="Kanit Light" pitchFamily="34" charset="0"/>
                <a:ea typeface="Kanit Light" pitchFamily="34" charset="-122"/>
                <a:cs typeface="Kanit Light" pitchFamily="34" charset="-120"/>
              </a:rPr>
              <a:t> 2022/23</a:t>
            </a:r>
            <a:endParaRPr lang="en-US" sz="3700" dirty="0"/>
          </a:p>
        </p:txBody>
      </p:sp>
      <p:sp>
        <p:nvSpPr>
          <p:cNvPr id="4" name="Text 1"/>
          <p:cNvSpPr/>
          <p:nvPr/>
        </p:nvSpPr>
        <p:spPr>
          <a:xfrm>
            <a:off x="700502" y="2518638"/>
            <a:ext cx="3200938" cy="4339362"/>
          </a:xfrm>
          <a:prstGeom prst="rect">
            <a:avLst/>
          </a:prstGeom>
          <a:noFill/>
          <a:ln/>
        </p:spPr>
        <p:txBody>
          <a:bodyPr wrap="square" lIns="0" tIns="0" rIns="0" bIns="0" rtlCol="0" anchor="t">
            <a:noAutofit/>
          </a:bodyPr>
          <a:lstStyle/>
          <a:p>
            <a:pPr marL="0" indent="0" algn="just">
              <a:lnSpc>
                <a:spcPct val="133000"/>
              </a:lnSpc>
              <a:spcAft>
                <a:spcPts val="1650"/>
              </a:spcAft>
              <a:buNone/>
            </a:pPr>
            <a:r>
              <a:rPr lang="en-US" sz="1450" dirty="0">
                <a:solidFill>
                  <a:srgbClr val="2C3249"/>
                </a:solidFill>
                <a:latin typeface="Martel Sans" pitchFamily="34" charset="0"/>
                <a:ea typeface="Martel Sans" pitchFamily="34" charset="-122"/>
                <a:cs typeface="Martel Sans" pitchFamily="34" charset="-120"/>
              </a:rPr>
              <a:t>Finanzkrise: </a:t>
            </a:r>
            <a:r>
              <a:rPr lang="en-US" sz="1450" dirty="0" err="1">
                <a:solidFill>
                  <a:srgbClr val="2C3249"/>
                </a:solidFill>
                <a:latin typeface="Martel Sans" pitchFamily="34" charset="0"/>
                <a:ea typeface="Martel Sans" pitchFamily="34" charset="-122"/>
                <a:cs typeface="Martel Sans" pitchFamily="34" charset="-120"/>
              </a:rPr>
              <a:t>schlechtestes</a:t>
            </a:r>
            <a:r>
              <a:rPr lang="en-US" sz="1450" dirty="0">
                <a:solidFill>
                  <a:srgbClr val="2C3249"/>
                </a:solidFill>
                <a:latin typeface="Martel Sans" pitchFamily="34" charset="0"/>
                <a:ea typeface="Martel Sans" pitchFamily="34" charset="-122"/>
                <a:cs typeface="Martel Sans" pitchFamily="34" charset="-120"/>
              </a:rPr>
              <a:t> Jahr minus 1,28 %. Zinswende: schlechtestes Jahr minus 12,27 %, zehnmal so stark. Grund: EZB senkte Zinsen nach 2008, er</a:t>
            </a:r>
            <a:r>
              <a:rPr lang="en-US" sz="1450" u="sng" dirty="0">
                <a:solidFill>
                  <a:srgbClr val="2C3249"/>
                </a:solidFill>
                <a:latin typeface="Martel Sans" pitchFamily="34" charset="0"/>
                <a:ea typeface="Martel Sans" pitchFamily="34" charset="-122"/>
                <a:cs typeface="Martel Sans" pitchFamily="34" charset="-120"/>
              </a:rPr>
              <a:t>hö</a:t>
            </a:r>
            <a:r>
              <a:rPr lang="en-US" sz="1450" dirty="0">
                <a:solidFill>
                  <a:srgbClr val="2C3249"/>
                </a:solidFill>
                <a:latin typeface="Martel Sans" pitchFamily="34" charset="0"/>
                <a:ea typeface="Martel Sans" pitchFamily="34" charset="-122"/>
                <a:cs typeface="Martel Sans" pitchFamily="34" charset="-120"/>
              </a:rPr>
              <a:t>hte sie aber 2022 gezielt gegen Inflation, Bauzinsen stiegen von 1 auf 3,5 bis 4 %. 2008 war für Deutschland vor allem eine importierte Bankenkrise ohne eigene </a:t>
            </a:r>
            <a:r>
              <a:rPr lang="en-US" sz="1450" dirty="0" err="1">
                <a:solidFill>
                  <a:srgbClr val="2C3249"/>
                </a:solidFill>
                <a:latin typeface="Martel Sans" pitchFamily="34" charset="0"/>
                <a:ea typeface="Martel Sans" pitchFamily="34" charset="-122"/>
                <a:cs typeface="Martel Sans" pitchFamily="34" charset="-120"/>
              </a:rPr>
              <a:t>Immobilienblase</a:t>
            </a:r>
            <a:r>
              <a:rPr lang="en-US" sz="1450" dirty="0">
                <a:solidFill>
                  <a:srgbClr val="2C3249"/>
                </a:solidFill>
                <a:latin typeface="Martel Sans" pitchFamily="34" charset="0"/>
                <a:ea typeface="Martel Sans" pitchFamily="34" charset="-122"/>
                <a:cs typeface="Martel Sans" pitchFamily="34" charset="-120"/>
              </a:rPr>
              <a:t>.</a:t>
            </a:r>
            <a:endParaRPr lang="en-US" sz="1450" dirty="0"/>
          </a:p>
        </p:txBody>
      </p:sp>
      <p:sp>
        <p:nvSpPr>
          <p:cNvPr id="8" name="Rechteck 7">
            <a:extLst>
              <a:ext uri="{FF2B5EF4-FFF2-40B4-BE49-F238E27FC236}">
                <a16:creationId xmlns:a16="http://schemas.microsoft.com/office/drawing/2014/main" id="{BA3AAC8C-7982-1B73-F8A7-291BA018DC5A}"/>
              </a:ext>
            </a:extLst>
          </p:cNvPr>
          <p:cNvSpPr/>
          <p:nvPr/>
        </p:nvSpPr>
        <p:spPr>
          <a:xfrm>
            <a:off x="10599420" y="6527942"/>
            <a:ext cx="1539240" cy="3300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a:extLst>
              <a:ext uri="{FF2B5EF4-FFF2-40B4-BE49-F238E27FC236}">
                <a16:creationId xmlns:a16="http://schemas.microsoft.com/office/drawing/2014/main" id="{BB349CF3-7DEC-301F-52D8-FB2E5A791FCF}"/>
              </a:ext>
            </a:extLst>
          </p:cNvPr>
          <p:cNvPicPr>
            <a:picLocks noChangeAspect="1"/>
          </p:cNvPicPr>
          <p:nvPr/>
        </p:nvPicPr>
        <p:blipFill>
          <a:blip r:embed="rId3"/>
          <a:stretch>
            <a:fillRect/>
          </a:stretch>
        </p:blipFill>
        <p:spPr>
          <a:xfrm>
            <a:off x="4394862" y="1661095"/>
            <a:ext cx="7096636" cy="4399629"/>
          </a:xfrm>
          <a:prstGeom prst="roundRect">
            <a:avLst>
              <a:gd name="adj" fmla="val 2811"/>
            </a:avLst>
          </a:prstGeom>
          <a:effectLst>
            <a:outerShdw blurRad="50800" dist="38100" dir="2700000" algn="tl" rotWithShape="0">
              <a:prstClr val="black">
                <a:alpha val="40000"/>
              </a:prstClr>
            </a:outerShdw>
          </a:effectLst>
        </p:spPr>
      </p:pic>
      <p:sp>
        <p:nvSpPr>
          <p:cNvPr id="14" name="Textfeld 13">
            <a:extLst>
              <a:ext uri="{FF2B5EF4-FFF2-40B4-BE49-F238E27FC236}">
                <a16:creationId xmlns:a16="http://schemas.microsoft.com/office/drawing/2014/main" id="{CF3D876B-098B-CE61-D1A0-04FA0A7471A0}"/>
              </a:ext>
            </a:extLst>
          </p:cNvPr>
          <p:cNvSpPr txBox="1"/>
          <p:nvPr/>
        </p:nvSpPr>
        <p:spPr>
          <a:xfrm>
            <a:off x="11756874" y="6591601"/>
            <a:ext cx="763572" cy="246221"/>
          </a:xfrm>
          <a:prstGeom prst="rect">
            <a:avLst/>
          </a:prstGeom>
          <a:noFill/>
        </p:spPr>
        <p:txBody>
          <a:bodyPr wrap="square" rtlCol="0">
            <a:spAutoFit/>
          </a:bodyPr>
          <a:lstStyle/>
          <a:p>
            <a:r>
              <a:rPr lang="de-DE" sz="1000" dirty="0"/>
              <a:t>6/12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058316"/>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272D45"/>
                </a:solidFill>
                <a:latin typeface="Kanit Light" pitchFamily="34" charset="0"/>
                <a:ea typeface="Kanit Light" pitchFamily="34" charset="-122"/>
                <a:cs typeface="Kanit Light" pitchFamily="34" charset="-120"/>
              </a:rPr>
              <a:t>H2: Preisschere zwischen den Städten</a:t>
            </a:r>
            <a:endParaRPr lang="en-US" sz="3700" dirty="0"/>
          </a:p>
        </p:txBody>
      </p:sp>
      <p:sp>
        <p:nvSpPr>
          <p:cNvPr id="3" name="Text 1"/>
          <p:cNvSpPr/>
          <p:nvPr/>
        </p:nvSpPr>
        <p:spPr>
          <a:xfrm>
            <a:off x="661475" y="2238349"/>
            <a:ext cx="1086874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C3249"/>
                </a:solidFill>
                <a:latin typeface="Martel Sans" pitchFamily="34" charset="0"/>
                <a:ea typeface="Martel Sans" pitchFamily="34" charset="-122"/>
                <a:cs typeface="Martel Sans" pitchFamily="34" charset="-120"/>
              </a:rPr>
              <a:t>Relative Streuung stieg von 25,49 % (2005) auf 41,61 % (2017), Plateau bei rund 40 %, seit 2022 leichter Rückgang auf 38 %. Die Preisschere hat sich real vergrößert, nicht nur durch das allgemeine Preisniveau.</a:t>
            </a:r>
            <a:endParaRPr lang="en-US" sz="1450" dirty="0"/>
          </a:p>
        </p:txBody>
      </p:sp>
      <p:sp>
        <p:nvSpPr>
          <p:cNvPr id="4" name="Text 2"/>
          <p:cNvSpPr/>
          <p:nvPr/>
        </p:nvSpPr>
        <p:spPr>
          <a:xfrm>
            <a:off x="661475" y="3432572"/>
            <a:ext cx="3465426" cy="623788"/>
          </a:xfrm>
          <a:prstGeom prst="rect">
            <a:avLst/>
          </a:prstGeom>
          <a:noFill/>
          <a:ln/>
        </p:spPr>
        <p:txBody>
          <a:bodyPr wrap="none" lIns="0" tIns="0" rIns="0" bIns="0" rtlCol="0" anchor="t"/>
          <a:lstStyle/>
          <a:p>
            <a:pPr marL="0" indent="0" algn="ctr">
              <a:lnSpc>
                <a:spcPct val="83000"/>
              </a:lnSpc>
              <a:buNone/>
            </a:pPr>
            <a:r>
              <a:rPr lang="en-US" sz="4900" dirty="0">
                <a:solidFill>
                  <a:srgbClr val="2C3249"/>
                </a:solidFill>
                <a:latin typeface="Kanit Light" pitchFamily="34" charset="0"/>
                <a:ea typeface="Kanit Light" pitchFamily="34" charset="-122"/>
                <a:cs typeface="Kanit Light" pitchFamily="34" charset="-120"/>
              </a:rPr>
              <a:t>25,49%</a:t>
            </a:r>
            <a:endParaRPr lang="en-US" sz="4900" dirty="0"/>
          </a:p>
        </p:txBody>
      </p:sp>
      <p:sp>
        <p:nvSpPr>
          <p:cNvPr id="5" name="Text 3"/>
          <p:cNvSpPr/>
          <p:nvPr/>
        </p:nvSpPr>
        <p:spPr>
          <a:xfrm>
            <a:off x="661475" y="4292501"/>
            <a:ext cx="3465426" cy="295275"/>
          </a:xfrm>
          <a:prstGeom prst="rect">
            <a:avLst/>
          </a:prstGeom>
          <a:noFill/>
          <a:ln/>
        </p:spPr>
        <p:txBody>
          <a:bodyPr wrap="none" lIns="0" tIns="0" rIns="0" bIns="0" rtlCol="0" anchor="t"/>
          <a:lstStyle/>
          <a:p>
            <a:pPr marL="0" indent="0" algn="ctr">
              <a:lnSpc>
                <a:spcPct val="104000"/>
              </a:lnSpc>
              <a:buNone/>
            </a:pPr>
            <a:r>
              <a:rPr lang="en-US" sz="1850" dirty="0">
                <a:solidFill>
                  <a:srgbClr val="2C3249"/>
                </a:solidFill>
                <a:latin typeface="Kanit Light" pitchFamily="34" charset="0"/>
                <a:ea typeface="Kanit Light" pitchFamily="34" charset="-122"/>
                <a:cs typeface="Kanit Light" pitchFamily="34" charset="-120"/>
              </a:rPr>
              <a:t>Streuung 2005</a:t>
            </a:r>
            <a:endParaRPr lang="en-US" sz="1850" dirty="0"/>
          </a:p>
        </p:txBody>
      </p:sp>
      <p:sp>
        <p:nvSpPr>
          <p:cNvPr id="6" name="Text 4"/>
          <p:cNvSpPr/>
          <p:nvPr/>
        </p:nvSpPr>
        <p:spPr>
          <a:xfrm>
            <a:off x="661475" y="4701183"/>
            <a:ext cx="3465426" cy="604838"/>
          </a:xfrm>
          <a:prstGeom prst="rect">
            <a:avLst/>
          </a:prstGeom>
          <a:noFill/>
          <a:ln/>
        </p:spPr>
        <p:txBody>
          <a:bodyPr wrap="square" lIns="0" tIns="0" rIns="0" bIns="0" rtlCol="0" anchor="t">
            <a:normAutofit/>
          </a:bodyPr>
          <a:lstStyle/>
          <a:p>
            <a:pPr marL="0" indent="0" algn="ctr">
              <a:lnSpc>
                <a:spcPct val="133000"/>
              </a:lnSpc>
              <a:buNone/>
            </a:pPr>
            <a:r>
              <a:rPr lang="en-US" sz="1450" dirty="0">
                <a:solidFill>
                  <a:srgbClr val="2C3249"/>
                </a:solidFill>
                <a:latin typeface="Martel Sans" pitchFamily="34" charset="0"/>
                <a:ea typeface="Martel Sans" pitchFamily="34" charset="-122"/>
                <a:cs typeface="Martel Sans" pitchFamily="34" charset="-120"/>
              </a:rPr>
              <a:t>Relative Streuung zu Beginn des Beobachtungszeitraums</a:t>
            </a:r>
            <a:endParaRPr lang="en-US" sz="1450" dirty="0"/>
          </a:p>
        </p:txBody>
      </p:sp>
      <p:sp>
        <p:nvSpPr>
          <p:cNvPr id="7" name="Text 5"/>
          <p:cNvSpPr/>
          <p:nvPr/>
        </p:nvSpPr>
        <p:spPr>
          <a:xfrm>
            <a:off x="4363135" y="3432572"/>
            <a:ext cx="3465426" cy="623788"/>
          </a:xfrm>
          <a:prstGeom prst="rect">
            <a:avLst/>
          </a:prstGeom>
          <a:noFill/>
          <a:ln/>
        </p:spPr>
        <p:txBody>
          <a:bodyPr wrap="none" lIns="0" tIns="0" rIns="0" bIns="0" rtlCol="0" anchor="t"/>
          <a:lstStyle/>
          <a:p>
            <a:pPr marL="0" indent="0" algn="ctr">
              <a:lnSpc>
                <a:spcPct val="83000"/>
              </a:lnSpc>
              <a:buNone/>
            </a:pPr>
            <a:r>
              <a:rPr lang="en-US" sz="4900" dirty="0">
                <a:solidFill>
                  <a:srgbClr val="2C3249"/>
                </a:solidFill>
                <a:latin typeface="Kanit Light" pitchFamily="34" charset="0"/>
                <a:ea typeface="Kanit Light" pitchFamily="34" charset="-122"/>
                <a:cs typeface="Kanit Light" pitchFamily="34" charset="-120"/>
              </a:rPr>
              <a:t>41,61%</a:t>
            </a:r>
            <a:endParaRPr lang="en-US" sz="4900" dirty="0"/>
          </a:p>
        </p:txBody>
      </p:sp>
      <p:sp>
        <p:nvSpPr>
          <p:cNvPr id="8" name="Text 6"/>
          <p:cNvSpPr/>
          <p:nvPr/>
        </p:nvSpPr>
        <p:spPr>
          <a:xfrm>
            <a:off x="4363135" y="4292501"/>
            <a:ext cx="3465426" cy="295275"/>
          </a:xfrm>
          <a:prstGeom prst="rect">
            <a:avLst/>
          </a:prstGeom>
          <a:noFill/>
          <a:ln/>
        </p:spPr>
        <p:txBody>
          <a:bodyPr wrap="none" lIns="0" tIns="0" rIns="0" bIns="0" rtlCol="0" anchor="t"/>
          <a:lstStyle/>
          <a:p>
            <a:pPr marL="0" indent="0" algn="ctr">
              <a:lnSpc>
                <a:spcPct val="104000"/>
              </a:lnSpc>
              <a:buNone/>
            </a:pPr>
            <a:r>
              <a:rPr lang="en-US" sz="1850" dirty="0">
                <a:solidFill>
                  <a:srgbClr val="2C3249"/>
                </a:solidFill>
                <a:latin typeface="Kanit Light" pitchFamily="34" charset="0"/>
                <a:ea typeface="Kanit Light" pitchFamily="34" charset="-122"/>
                <a:cs typeface="Kanit Light" pitchFamily="34" charset="-120"/>
              </a:rPr>
              <a:t>Streuung 2017</a:t>
            </a:r>
            <a:endParaRPr lang="en-US" sz="1850" dirty="0"/>
          </a:p>
        </p:txBody>
      </p:sp>
      <p:sp>
        <p:nvSpPr>
          <p:cNvPr id="9" name="Text 7"/>
          <p:cNvSpPr/>
          <p:nvPr/>
        </p:nvSpPr>
        <p:spPr>
          <a:xfrm>
            <a:off x="4363135" y="4701183"/>
            <a:ext cx="3465426" cy="604838"/>
          </a:xfrm>
          <a:prstGeom prst="rect">
            <a:avLst/>
          </a:prstGeom>
          <a:noFill/>
          <a:ln/>
        </p:spPr>
        <p:txBody>
          <a:bodyPr wrap="square" lIns="0" tIns="0" rIns="0" bIns="0" rtlCol="0" anchor="t">
            <a:normAutofit/>
          </a:bodyPr>
          <a:lstStyle/>
          <a:p>
            <a:pPr marL="0" indent="0" algn="ctr">
              <a:lnSpc>
                <a:spcPct val="133000"/>
              </a:lnSpc>
              <a:buNone/>
            </a:pPr>
            <a:r>
              <a:rPr lang="en-US" sz="1450" dirty="0">
                <a:solidFill>
                  <a:srgbClr val="2C3249"/>
                </a:solidFill>
                <a:latin typeface="Martel Sans" pitchFamily="34" charset="0"/>
                <a:ea typeface="Martel Sans" pitchFamily="34" charset="-122"/>
                <a:cs typeface="Martel Sans" pitchFamily="34" charset="-120"/>
              </a:rPr>
              <a:t>Höchststand der Preisschere zwischen den Städten</a:t>
            </a:r>
            <a:endParaRPr lang="en-US" sz="1450" dirty="0"/>
          </a:p>
        </p:txBody>
      </p:sp>
      <p:sp>
        <p:nvSpPr>
          <p:cNvPr id="10" name="Text 8"/>
          <p:cNvSpPr/>
          <p:nvPr/>
        </p:nvSpPr>
        <p:spPr>
          <a:xfrm>
            <a:off x="8064794" y="3432572"/>
            <a:ext cx="3465426" cy="623788"/>
          </a:xfrm>
          <a:prstGeom prst="rect">
            <a:avLst/>
          </a:prstGeom>
          <a:noFill/>
          <a:ln/>
        </p:spPr>
        <p:txBody>
          <a:bodyPr wrap="none" lIns="0" tIns="0" rIns="0" bIns="0" rtlCol="0" anchor="t"/>
          <a:lstStyle/>
          <a:p>
            <a:pPr marL="0" indent="0" algn="ctr">
              <a:lnSpc>
                <a:spcPct val="83000"/>
              </a:lnSpc>
              <a:buNone/>
            </a:pPr>
            <a:r>
              <a:rPr lang="en-US" sz="4900" dirty="0">
                <a:solidFill>
                  <a:srgbClr val="2C3249"/>
                </a:solidFill>
                <a:latin typeface="Kanit Light" pitchFamily="34" charset="0"/>
                <a:ea typeface="Kanit Light" pitchFamily="34" charset="-122"/>
                <a:cs typeface="Kanit Light" pitchFamily="34" charset="-120"/>
              </a:rPr>
              <a:t>38%</a:t>
            </a:r>
            <a:endParaRPr lang="en-US" sz="4900" dirty="0"/>
          </a:p>
        </p:txBody>
      </p:sp>
      <p:sp>
        <p:nvSpPr>
          <p:cNvPr id="11" name="Text 9"/>
          <p:cNvSpPr/>
          <p:nvPr/>
        </p:nvSpPr>
        <p:spPr>
          <a:xfrm>
            <a:off x="8064794" y="4292501"/>
            <a:ext cx="3465426" cy="295275"/>
          </a:xfrm>
          <a:prstGeom prst="rect">
            <a:avLst/>
          </a:prstGeom>
          <a:noFill/>
          <a:ln/>
        </p:spPr>
        <p:txBody>
          <a:bodyPr wrap="none" lIns="0" tIns="0" rIns="0" bIns="0" rtlCol="0" anchor="t"/>
          <a:lstStyle/>
          <a:p>
            <a:pPr marL="0" indent="0" algn="ctr">
              <a:lnSpc>
                <a:spcPct val="104000"/>
              </a:lnSpc>
              <a:buNone/>
            </a:pPr>
            <a:r>
              <a:rPr lang="en-US" sz="1850" dirty="0">
                <a:solidFill>
                  <a:srgbClr val="2C3249"/>
                </a:solidFill>
                <a:latin typeface="Kanit Light" pitchFamily="34" charset="0"/>
                <a:ea typeface="Kanit Light" pitchFamily="34" charset="-122"/>
                <a:cs typeface="Kanit Light" pitchFamily="34" charset="-120"/>
              </a:rPr>
              <a:t>Streuung 2022+</a:t>
            </a:r>
            <a:endParaRPr lang="en-US" sz="1850" dirty="0"/>
          </a:p>
        </p:txBody>
      </p:sp>
      <p:sp>
        <p:nvSpPr>
          <p:cNvPr id="12" name="Text 10"/>
          <p:cNvSpPr/>
          <p:nvPr/>
        </p:nvSpPr>
        <p:spPr>
          <a:xfrm>
            <a:off x="8064794" y="4701183"/>
            <a:ext cx="3465426" cy="604838"/>
          </a:xfrm>
          <a:prstGeom prst="rect">
            <a:avLst/>
          </a:prstGeom>
          <a:noFill/>
          <a:ln/>
        </p:spPr>
        <p:txBody>
          <a:bodyPr wrap="square" lIns="0" tIns="0" rIns="0" bIns="0" rtlCol="0" anchor="t">
            <a:normAutofit/>
          </a:bodyPr>
          <a:lstStyle/>
          <a:p>
            <a:pPr marL="0" indent="0" algn="ctr">
              <a:lnSpc>
                <a:spcPct val="133000"/>
              </a:lnSpc>
              <a:buNone/>
            </a:pPr>
            <a:r>
              <a:rPr lang="en-US" sz="1450" dirty="0">
                <a:solidFill>
                  <a:srgbClr val="2C3249"/>
                </a:solidFill>
                <a:latin typeface="Martel Sans" pitchFamily="34" charset="0"/>
                <a:ea typeface="Martel Sans" pitchFamily="34" charset="-122"/>
                <a:cs typeface="Martel Sans" pitchFamily="34" charset="-120"/>
              </a:rPr>
              <a:t>Leichter Rückgang seit der Korrekturphase</a:t>
            </a:r>
            <a:endParaRPr lang="en-US" sz="1450" dirty="0"/>
          </a:p>
        </p:txBody>
      </p:sp>
      <p:sp>
        <p:nvSpPr>
          <p:cNvPr id="14" name="Rechteck 13">
            <a:extLst>
              <a:ext uri="{FF2B5EF4-FFF2-40B4-BE49-F238E27FC236}">
                <a16:creationId xmlns:a16="http://schemas.microsoft.com/office/drawing/2014/main" id="{22FBA17A-FE9F-783D-876B-B06050C65D69}"/>
              </a:ext>
            </a:extLst>
          </p:cNvPr>
          <p:cNvSpPr/>
          <p:nvPr/>
        </p:nvSpPr>
        <p:spPr>
          <a:xfrm>
            <a:off x="10599420" y="6527942"/>
            <a:ext cx="1539240" cy="3300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Textfeld 15">
            <a:extLst>
              <a:ext uri="{FF2B5EF4-FFF2-40B4-BE49-F238E27FC236}">
                <a16:creationId xmlns:a16="http://schemas.microsoft.com/office/drawing/2014/main" id="{1E53E7D4-9AC1-4D21-BD30-CE29240C66B4}"/>
              </a:ext>
            </a:extLst>
          </p:cNvPr>
          <p:cNvSpPr txBox="1"/>
          <p:nvPr/>
        </p:nvSpPr>
        <p:spPr>
          <a:xfrm>
            <a:off x="11756874" y="6591601"/>
            <a:ext cx="763572" cy="246221"/>
          </a:xfrm>
          <a:prstGeom prst="rect">
            <a:avLst/>
          </a:prstGeom>
          <a:noFill/>
        </p:spPr>
        <p:txBody>
          <a:bodyPr wrap="square" rtlCol="0">
            <a:spAutoFit/>
          </a:bodyPr>
          <a:lstStyle/>
          <a:p>
            <a:r>
              <a:rPr lang="de-DE" sz="1000" dirty="0"/>
              <a:t>7/12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25351" y="554076"/>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272D45"/>
                </a:solidFill>
                <a:latin typeface="Kanit Light" pitchFamily="34" charset="0"/>
                <a:ea typeface="Kanit Light" pitchFamily="34" charset="-122"/>
                <a:cs typeface="Kanit Light" pitchFamily="34" charset="-120"/>
              </a:rPr>
              <a:t>H2: Gewinner und Verlierer im Städtevergleich</a:t>
            </a:r>
            <a:endParaRPr lang="en-US" sz="3700" dirty="0"/>
          </a:p>
        </p:txBody>
      </p:sp>
      <p:sp>
        <p:nvSpPr>
          <p:cNvPr id="3" name="Shape 1"/>
          <p:cNvSpPr/>
          <p:nvPr/>
        </p:nvSpPr>
        <p:spPr>
          <a:xfrm>
            <a:off x="525351" y="1710681"/>
            <a:ext cx="3477690" cy="2051882"/>
          </a:xfrm>
          <a:prstGeom prst="roundRect">
            <a:avLst>
              <a:gd name="adj" fmla="val 5251"/>
            </a:avLst>
          </a:prstGeom>
          <a:solidFill>
            <a:srgbClr val="437066"/>
          </a:solidFill>
          <a:ln/>
          <a:effectLst>
            <a:outerShdw blurRad="50800" dist="38100" dir="2700000" algn="tl" rotWithShape="0">
              <a:prstClr val="black">
                <a:alpha val="40000"/>
              </a:prstClr>
            </a:outerShdw>
          </a:effectLst>
        </p:spPr>
        <p:txBody>
          <a:bodyPr/>
          <a:lstStyle/>
          <a:p>
            <a:endParaRPr lang="de-DE"/>
          </a:p>
        </p:txBody>
      </p:sp>
      <p:sp>
        <p:nvSpPr>
          <p:cNvPr id="4" name="Text 2"/>
          <p:cNvSpPr/>
          <p:nvPr/>
        </p:nvSpPr>
        <p:spPr>
          <a:xfrm>
            <a:off x="879537" y="2074069"/>
            <a:ext cx="5098029" cy="295275"/>
          </a:xfrm>
          <a:prstGeom prst="rect">
            <a:avLst/>
          </a:prstGeom>
          <a:noFill/>
          <a:ln/>
        </p:spPr>
        <p:txBody>
          <a:bodyPr wrap="none" lIns="0" tIns="0" rIns="0" bIns="0" rtlCol="0" anchor="t"/>
          <a:lstStyle/>
          <a:p>
            <a:pPr marL="0" indent="0" algn="l">
              <a:lnSpc>
                <a:spcPct val="104000"/>
              </a:lnSpc>
              <a:buNone/>
            </a:pPr>
            <a:r>
              <a:rPr lang="en-US" sz="1850" dirty="0">
                <a:solidFill>
                  <a:srgbClr val="FFFFFF"/>
                </a:solidFill>
                <a:latin typeface="Kanit Light" pitchFamily="34" charset="0"/>
                <a:ea typeface="Kanit Light" pitchFamily="34" charset="-122"/>
                <a:cs typeface="Kanit Light" pitchFamily="34" charset="-120"/>
              </a:rPr>
              <a:t>Stärkste Gewinner</a:t>
            </a:r>
            <a:endParaRPr lang="en-US" sz="1850" dirty="0"/>
          </a:p>
        </p:txBody>
      </p:sp>
      <p:sp>
        <p:nvSpPr>
          <p:cNvPr id="5" name="Text 3"/>
          <p:cNvSpPr/>
          <p:nvPr/>
        </p:nvSpPr>
        <p:spPr>
          <a:xfrm>
            <a:off x="773772" y="2611375"/>
            <a:ext cx="5098029" cy="1039416"/>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FFFFFF"/>
                </a:solidFill>
                <a:latin typeface="Martel Sans" pitchFamily="34" charset="0"/>
                <a:ea typeface="Martel Sans" pitchFamily="34" charset="-122"/>
                <a:cs typeface="Martel Sans" pitchFamily="34" charset="-120"/>
              </a:rPr>
              <a:t>München plus 201,75 %</a:t>
            </a:r>
            <a:endParaRPr lang="en-US" sz="1450" dirty="0"/>
          </a:p>
          <a:p>
            <a:pPr marL="294640" indent="-294640" algn="l">
              <a:lnSpc>
                <a:spcPct val="133000"/>
              </a:lnSpc>
              <a:buSzPct val="100000"/>
              <a:buChar char="•"/>
            </a:pPr>
            <a:r>
              <a:rPr lang="en-US" sz="1450" dirty="0">
                <a:solidFill>
                  <a:srgbClr val="FFFFFF"/>
                </a:solidFill>
                <a:latin typeface="Martel Sans" pitchFamily="34" charset="0"/>
                <a:ea typeface="Martel Sans" pitchFamily="34" charset="-122"/>
                <a:cs typeface="Martel Sans" pitchFamily="34" charset="-120"/>
              </a:rPr>
              <a:t>Hamburg plus 176,19 %</a:t>
            </a:r>
            <a:endParaRPr lang="en-US" sz="1450" dirty="0"/>
          </a:p>
          <a:p>
            <a:pPr marL="294640" indent="-294640" algn="l">
              <a:lnSpc>
                <a:spcPct val="133000"/>
              </a:lnSpc>
              <a:buSzPct val="100000"/>
              <a:buChar char="•"/>
            </a:pPr>
            <a:r>
              <a:rPr lang="en-US" sz="1450" dirty="0">
                <a:solidFill>
                  <a:srgbClr val="FFFFFF"/>
                </a:solidFill>
                <a:latin typeface="Martel Sans" pitchFamily="34" charset="0"/>
                <a:ea typeface="Martel Sans" pitchFamily="34" charset="-122"/>
                <a:cs typeface="Martel Sans" pitchFamily="34" charset="-120"/>
              </a:rPr>
              <a:t>Lübeck plus 150 %</a:t>
            </a:r>
            <a:endParaRPr lang="en-US" sz="1450" dirty="0"/>
          </a:p>
        </p:txBody>
      </p:sp>
      <p:sp>
        <p:nvSpPr>
          <p:cNvPr id="6" name="Text 4"/>
          <p:cNvSpPr/>
          <p:nvPr/>
        </p:nvSpPr>
        <p:spPr>
          <a:xfrm>
            <a:off x="773772" y="4246625"/>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272D45"/>
                </a:solidFill>
                <a:latin typeface="Kanit Light" pitchFamily="34" charset="0"/>
                <a:ea typeface="Kanit Light" pitchFamily="34" charset="-122"/>
                <a:cs typeface="Kanit Light" pitchFamily="34" charset="-120"/>
              </a:rPr>
              <a:t>Schwächste Entwicklung</a:t>
            </a:r>
            <a:endParaRPr lang="en-US" sz="1850" dirty="0"/>
          </a:p>
        </p:txBody>
      </p:sp>
      <p:sp>
        <p:nvSpPr>
          <p:cNvPr id="7" name="Text 5"/>
          <p:cNvSpPr/>
          <p:nvPr/>
        </p:nvSpPr>
        <p:spPr>
          <a:xfrm>
            <a:off x="773772" y="4608611"/>
            <a:ext cx="3046388" cy="973336"/>
          </a:xfrm>
          <a:prstGeom prst="rect">
            <a:avLst/>
          </a:prstGeom>
          <a:noFill/>
          <a:ln/>
        </p:spPr>
        <p:txBody>
          <a:bodyPr wrap="square" lIns="0" tIns="0" rIns="0" bIns="0" rtlCol="0" anchor="t">
            <a:noAutofit/>
          </a:bodyPr>
          <a:lstStyle/>
          <a:p>
            <a:pPr marL="294640" indent="-294640" algn="l">
              <a:lnSpc>
                <a:spcPct val="133000"/>
              </a:lnSpc>
              <a:buSzPct val="100000"/>
              <a:buChar char="•"/>
            </a:pPr>
            <a:r>
              <a:rPr lang="en-US" sz="1450" dirty="0">
                <a:solidFill>
                  <a:srgbClr val="2C3249"/>
                </a:solidFill>
                <a:latin typeface="Martel Sans" pitchFamily="34" charset="0"/>
                <a:ea typeface="Martel Sans" pitchFamily="34" charset="-122"/>
                <a:cs typeface="Martel Sans" pitchFamily="34" charset="-120"/>
              </a:rPr>
              <a:t>Chemnitz minus 3,28 % als einzige Stadt mit Rückgang</a:t>
            </a:r>
            <a:endParaRPr lang="en-US" sz="1450" dirty="0"/>
          </a:p>
          <a:p>
            <a:pPr marL="294640" indent="-294640" algn="l">
              <a:lnSpc>
                <a:spcPct val="133000"/>
              </a:lnSpc>
              <a:buSzPct val="100000"/>
              <a:buChar char="•"/>
            </a:pPr>
            <a:r>
              <a:rPr lang="en-US" sz="1450" dirty="0">
                <a:solidFill>
                  <a:srgbClr val="2C3249"/>
                </a:solidFill>
                <a:latin typeface="Martel Sans" pitchFamily="34" charset="0"/>
                <a:ea typeface="Martel Sans" pitchFamily="34" charset="-122"/>
                <a:cs typeface="Martel Sans" pitchFamily="34" charset="-120"/>
              </a:rPr>
              <a:t>Deutlich unter Duisburg und Bochum</a:t>
            </a:r>
            <a:endParaRPr lang="en-US" sz="1450" dirty="0"/>
          </a:p>
        </p:txBody>
      </p:sp>
      <p:sp>
        <p:nvSpPr>
          <p:cNvPr id="8" name="Text 6"/>
          <p:cNvSpPr/>
          <p:nvPr/>
        </p:nvSpPr>
        <p:spPr>
          <a:xfrm>
            <a:off x="6332776" y="4386957"/>
            <a:ext cx="5203794" cy="604838"/>
          </a:xfrm>
          <a:prstGeom prst="rect">
            <a:avLst/>
          </a:prstGeom>
          <a:noFill/>
          <a:ln/>
        </p:spPr>
        <p:txBody>
          <a:bodyPr wrap="square" lIns="0" tIns="0" rIns="0" bIns="0" rtlCol="0" anchor="t">
            <a:normAutofit/>
          </a:bodyPr>
          <a:lstStyle/>
          <a:p>
            <a:pPr marL="0" indent="0" algn="l">
              <a:lnSpc>
                <a:spcPct val="133000"/>
              </a:lnSpc>
              <a:buNone/>
            </a:pPr>
            <a:endParaRPr lang="en-US" sz="1450" dirty="0"/>
          </a:p>
        </p:txBody>
      </p:sp>
      <p:sp>
        <p:nvSpPr>
          <p:cNvPr id="10" name="Rechteck 9">
            <a:extLst>
              <a:ext uri="{FF2B5EF4-FFF2-40B4-BE49-F238E27FC236}">
                <a16:creationId xmlns:a16="http://schemas.microsoft.com/office/drawing/2014/main" id="{1DA6C621-90B9-C4E7-30A5-CC2203D4394A}"/>
              </a:ext>
            </a:extLst>
          </p:cNvPr>
          <p:cNvSpPr/>
          <p:nvPr/>
        </p:nvSpPr>
        <p:spPr>
          <a:xfrm>
            <a:off x="10599420" y="6527942"/>
            <a:ext cx="1539240" cy="3300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2" name="Grafik 11">
            <a:extLst>
              <a:ext uri="{FF2B5EF4-FFF2-40B4-BE49-F238E27FC236}">
                <a16:creationId xmlns:a16="http://schemas.microsoft.com/office/drawing/2014/main" id="{0EC0949C-B8F5-8358-6D5B-6A7B5F7457E5}"/>
              </a:ext>
            </a:extLst>
          </p:cNvPr>
          <p:cNvPicPr>
            <a:picLocks noChangeAspect="1"/>
          </p:cNvPicPr>
          <p:nvPr/>
        </p:nvPicPr>
        <p:blipFill>
          <a:blip r:embed="rId3"/>
          <a:stretch>
            <a:fillRect/>
          </a:stretch>
        </p:blipFill>
        <p:spPr>
          <a:xfrm>
            <a:off x="4640643" y="1682080"/>
            <a:ext cx="7096635" cy="4438171"/>
          </a:xfrm>
          <a:prstGeom prst="roundRect">
            <a:avLst>
              <a:gd name="adj" fmla="val 3161"/>
            </a:avLst>
          </a:prstGeom>
          <a:effectLst>
            <a:outerShdw blurRad="50800" dist="38100" dir="2700000" algn="tl" rotWithShape="0">
              <a:prstClr val="black">
                <a:alpha val="40000"/>
              </a:prstClr>
            </a:outerShdw>
          </a:effectLst>
        </p:spPr>
      </p:pic>
      <p:sp>
        <p:nvSpPr>
          <p:cNvPr id="18" name="Textfeld 17">
            <a:extLst>
              <a:ext uri="{FF2B5EF4-FFF2-40B4-BE49-F238E27FC236}">
                <a16:creationId xmlns:a16="http://schemas.microsoft.com/office/drawing/2014/main" id="{E02813D8-5630-E5D6-5D09-3B9E9F1DF63F}"/>
              </a:ext>
            </a:extLst>
          </p:cNvPr>
          <p:cNvSpPr txBox="1"/>
          <p:nvPr/>
        </p:nvSpPr>
        <p:spPr>
          <a:xfrm>
            <a:off x="11756874" y="6591601"/>
            <a:ext cx="763572" cy="246221"/>
          </a:xfrm>
          <a:prstGeom prst="rect">
            <a:avLst/>
          </a:prstGeom>
          <a:noFill/>
        </p:spPr>
        <p:txBody>
          <a:bodyPr wrap="square" rtlCol="0">
            <a:spAutoFit/>
          </a:bodyPr>
          <a:lstStyle/>
          <a:p>
            <a:r>
              <a:rPr lang="de-DE" sz="1000" dirty="0"/>
              <a:t>8/12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58302" y="348984"/>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272D45"/>
                </a:solidFill>
                <a:latin typeface="Kanit Light" pitchFamily="34" charset="0"/>
                <a:ea typeface="Kanit Light" pitchFamily="34" charset="-122"/>
                <a:cs typeface="Kanit Light" pitchFamily="34" charset="-120"/>
              </a:rPr>
              <a:t>H3: Preisentwicklung nach Immobilientyp</a:t>
            </a:r>
            <a:endParaRPr lang="en-US" sz="3700" dirty="0"/>
          </a:p>
        </p:txBody>
      </p:sp>
      <p:sp>
        <p:nvSpPr>
          <p:cNvPr id="3" name="Text 1"/>
          <p:cNvSpPr/>
          <p:nvPr/>
        </p:nvSpPr>
        <p:spPr>
          <a:xfrm>
            <a:off x="671644" y="1122659"/>
            <a:ext cx="10868745" cy="604838"/>
          </a:xfrm>
          <a:prstGeom prst="rect">
            <a:avLst/>
          </a:prstGeom>
          <a:noFill/>
          <a:ln/>
        </p:spPr>
        <p:txBody>
          <a:bodyPr wrap="square" lIns="0" tIns="0" rIns="0" bIns="0" rtlCol="0" anchor="t">
            <a:noAutofit/>
          </a:bodyPr>
          <a:lstStyle/>
          <a:p>
            <a:pPr marL="0" indent="0" algn="just">
              <a:lnSpc>
                <a:spcPct val="133000"/>
              </a:lnSpc>
              <a:buNone/>
            </a:pPr>
            <a:r>
              <a:rPr lang="en-US" sz="1450" dirty="0">
                <a:solidFill>
                  <a:srgbClr val="2C3249"/>
                </a:solidFill>
                <a:latin typeface="Martel Sans" pitchFamily="34" charset="0"/>
                <a:ea typeface="Martel Sans" pitchFamily="34" charset="-122"/>
                <a:cs typeface="Martel Sans" pitchFamily="34" charset="-120"/>
              </a:rPr>
              <a:t>Wohnungen plus 132,76 %, Einfamilienhäuser plus 97,23 %, Mehrfamilienhäuser plus 95,70 %. Wohnungen zeigen stärkstes Wachstum, weil sie 2005 auf niedrigerem Niveau starteten als Einfamilienhäuser.</a:t>
            </a:r>
            <a:endParaRPr lang="en-US" sz="1450" dirty="0"/>
          </a:p>
        </p:txBody>
      </p:sp>
      <p:sp>
        <p:nvSpPr>
          <p:cNvPr id="4" name="Shape 2"/>
          <p:cNvSpPr/>
          <p:nvPr/>
        </p:nvSpPr>
        <p:spPr>
          <a:xfrm>
            <a:off x="684986" y="2029916"/>
            <a:ext cx="2775780" cy="1101824"/>
          </a:xfrm>
          <a:prstGeom prst="roundRect">
            <a:avLst>
              <a:gd name="adj" fmla="val 7205"/>
            </a:avLst>
          </a:prstGeom>
          <a:solidFill>
            <a:srgbClr val="DFECE9"/>
          </a:solidFill>
          <a:ln w="6350">
            <a:solidFill>
              <a:srgbClr val="C5D2CF"/>
            </a:solidFill>
            <a:prstDash val="solid"/>
          </a:ln>
          <a:effectLst>
            <a:outerShdw blurRad="50800" dist="38100" dir="2700000" algn="tl" rotWithShape="0">
              <a:prstClr val="black">
                <a:alpha val="40000"/>
              </a:prstClr>
            </a:outerShdw>
          </a:effectLst>
        </p:spPr>
        <p:txBody>
          <a:bodyPr/>
          <a:lstStyle/>
          <a:p>
            <a:endParaRPr lang="de-DE"/>
          </a:p>
        </p:txBody>
      </p:sp>
      <p:sp>
        <p:nvSpPr>
          <p:cNvPr id="5" name="Text 3"/>
          <p:cNvSpPr/>
          <p:nvPr/>
        </p:nvSpPr>
        <p:spPr>
          <a:xfrm>
            <a:off x="1401677" y="2235757"/>
            <a:ext cx="3106164" cy="295275"/>
          </a:xfrm>
          <a:prstGeom prst="rect">
            <a:avLst/>
          </a:prstGeom>
          <a:noFill/>
          <a:ln/>
        </p:spPr>
        <p:txBody>
          <a:bodyPr wrap="none" lIns="0" tIns="0" rIns="0" bIns="0" rtlCol="0" anchor="t"/>
          <a:lstStyle/>
          <a:p>
            <a:pPr marL="0" indent="0" algn="l">
              <a:lnSpc>
                <a:spcPct val="104000"/>
              </a:lnSpc>
              <a:buNone/>
            </a:pPr>
            <a:r>
              <a:rPr lang="en-US" sz="1850" dirty="0">
                <a:solidFill>
                  <a:srgbClr val="2C3249"/>
                </a:solidFill>
                <a:latin typeface="Kanit Light" pitchFamily="34" charset="0"/>
                <a:ea typeface="Kanit Light" pitchFamily="34" charset="-122"/>
                <a:cs typeface="Kanit Light" pitchFamily="34" charset="-120"/>
              </a:rPr>
              <a:t>Wohnungen</a:t>
            </a:r>
            <a:endParaRPr lang="en-US" sz="1850" dirty="0"/>
          </a:p>
        </p:txBody>
      </p:sp>
      <p:sp>
        <p:nvSpPr>
          <p:cNvPr id="6" name="Text 4"/>
          <p:cNvSpPr/>
          <p:nvPr/>
        </p:nvSpPr>
        <p:spPr>
          <a:xfrm>
            <a:off x="1574799" y="2669748"/>
            <a:ext cx="2414881" cy="302419"/>
          </a:xfrm>
          <a:prstGeom prst="rect">
            <a:avLst/>
          </a:prstGeom>
          <a:noFill/>
          <a:ln/>
        </p:spPr>
        <p:txBody>
          <a:bodyPr wrap="none" lIns="0" tIns="0" rIns="0" bIns="0" rtlCol="0" anchor="t"/>
          <a:lstStyle/>
          <a:p>
            <a:pPr marL="0" indent="0" algn="l">
              <a:lnSpc>
                <a:spcPct val="133000"/>
              </a:lnSpc>
              <a:buNone/>
            </a:pPr>
            <a:r>
              <a:rPr lang="en-US" sz="1450" dirty="0">
                <a:solidFill>
                  <a:srgbClr val="2C3249"/>
                </a:solidFill>
                <a:latin typeface="Martel Sans" pitchFamily="34" charset="0"/>
                <a:ea typeface="Martel Sans" pitchFamily="34" charset="-122"/>
                <a:cs typeface="Martel Sans" pitchFamily="34" charset="-120"/>
              </a:rPr>
              <a:t>+ 132,76 %</a:t>
            </a:r>
            <a:endParaRPr lang="en-US" sz="1450" dirty="0"/>
          </a:p>
        </p:txBody>
      </p:sp>
      <p:sp>
        <p:nvSpPr>
          <p:cNvPr id="7" name="Shape 5"/>
          <p:cNvSpPr/>
          <p:nvPr/>
        </p:nvSpPr>
        <p:spPr>
          <a:xfrm>
            <a:off x="684986" y="3550329"/>
            <a:ext cx="2762437" cy="1101824"/>
          </a:xfrm>
          <a:prstGeom prst="roundRect">
            <a:avLst>
              <a:gd name="adj" fmla="val 7205"/>
            </a:avLst>
          </a:prstGeom>
          <a:solidFill>
            <a:srgbClr val="DFECE9"/>
          </a:solidFill>
          <a:ln w="6350">
            <a:solidFill>
              <a:srgbClr val="C5D2CF"/>
            </a:solidFill>
            <a:prstDash val="solid"/>
          </a:ln>
          <a:effectLst>
            <a:outerShdw blurRad="50800" dist="38100" dir="2700000" algn="tl" rotWithShape="0">
              <a:prstClr val="black">
                <a:alpha val="40000"/>
              </a:prstClr>
            </a:outerShdw>
          </a:effectLst>
        </p:spPr>
        <p:txBody>
          <a:bodyPr/>
          <a:lstStyle/>
          <a:p>
            <a:endParaRPr lang="de-DE"/>
          </a:p>
        </p:txBody>
      </p:sp>
      <p:sp>
        <p:nvSpPr>
          <p:cNvPr id="8" name="Text 6"/>
          <p:cNvSpPr/>
          <p:nvPr/>
        </p:nvSpPr>
        <p:spPr>
          <a:xfrm>
            <a:off x="1127759" y="3745690"/>
            <a:ext cx="2206367" cy="302419"/>
          </a:xfrm>
          <a:prstGeom prst="rect">
            <a:avLst/>
          </a:prstGeom>
          <a:noFill/>
          <a:ln/>
        </p:spPr>
        <p:txBody>
          <a:bodyPr wrap="none" lIns="0" tIns="0" rIns="0" bIns="0" rtlCol="0" anchor="t"/>
          <a:lstStyle/>
          <a:p>
            <a:pPr marL="0" indent="0" algn="l">
              <a:lnSpc>
                <a:spcPct val="104000"/>
              </a:lnSpc>
              <a:buNone/>
            </a:pPr>
            <a:r>
              <a:rPr lang="en-US" sz="1850" dirty="0">
                <a:solidFill>
                  <a:srgbClr val="2C3249"/>
                </a:solidFill>
                <a:latin typeface="Kanit Light" pitchFamily="34" charset="0"/>
                <a:ea typeface="Kanit Light" pitchFamily="34" charset="-122"/>
                <a:cs typeface="Kanit Light" pitchFamily="34" charset="-120"/>
              </a:rPr>
              <a:t>Einfamilienhäuser</a:t>
            </a:r>
            <a:endParaRPr lang="en-US" sz="1850" dirty="0"/>
          </a:p>
        </p:txBody>
      </p:sp>
      <p:sp>
        <p:nvSpPr>
          <p:cNvPr id="9" name="Text 7"/>
          <p:cNvSpPr/>
          <p:nvPr/>
        </p:nvSpPr>
        <p:spPr>
          <a:xfrm>
            <a:off x="1574799" y="4154372"/>
            <a:ext cx="1759328" cy="312326"/>
          </a:xfrm>
          <a:prstGeom prst="rect">
            <a:avLst/>
          </a:prstGeom>
          <a:noFill/>
          <a:ln/>
        </p:spPr>
        <p:txBody>
          <a:bodyPr wrap="none" lIns="0" tIns="0" rIns="0" bIns="0" rtlCol="0" anchor="t"/>
          <a:lstStyle/>
          <a:p>
            <a:pPr marL="0" indent="0" algn="l">
              <a:lnSpc>
                <a:spcPct val="133000"/>
              </a:lnSpc>
              <a:buNone/>
            </a:pPr>
            <a:r>
              <a:rPr lang="en-US" sz="1450" dirty="0">
                <a:solidFill>
                  <a:srgbClr val="2C3249"/>
                </a:solidFill>
                <a:latin typeface="Martel Sans" pitchFamily="34" charset="0"/>
                <a:ea typeface="Martel Sans" pitchFamily="34" charset="-122"/>
                <a:cs typeface="Martel Sans" pitchFamily="34" charset="-120"/>
              </a:rPr>
              <a:t>+ 97,23 %</a:t>
            </a:r>
            <a:endParaRPr lang="en-US" sz="1450" dirty="0"/>
          </a:p>
        </p:txBody>
      </p:sp>
      <p:sp>
        <p:nvSpPr>
          <p:cNvPr id="10" name="Shape 8"/>
          <p:cNvSpPr/>
          <p:nvPr/>
        </p:nvSpPr>
        <p:spPr>
          <a:xfrm>
            <a:off x="671644" y="5105516"/>
            <a:ext cx="2775780" cy="1101824"/>
          </a:xfrm>
          <a:prstGeom prst="roundRect">
            <a:avLst>
              <a:gd name="adj" fmla="val 7205"/>
            </a:avLst>
          </a:prstGeom>
          <a:solidFill>
            <a:srgbClr val="DFECE9"/>
          </a:solidFill>
          <a:ln w="6350">
            <a:solidFill>
              <a:srgbClr val="C5D2CF"/>
            </a:solidFill>
            <a:prstDash val="solid"/>
          </a:ln>
          <a:effectLst>
            <a:outerShdw blurRad="50800" dist="38100" dir="2700000" algn="tl" rotWithShape="0">
              <a:prstClr val="black">
                <a:alpha val="40000"/>
              </a:prstClr>
            </a:outerShdw>
          </a:effectLst>
        </p:spPr>
        <p:txBody>
          <a:bodyPr/>
          <a:lstStyle/>
          <a:p>
            <a:endParaRPr lang="de-DE"/>
          </a:p>
        </p:txBody>
      </p:sp>
      <p:sp>
        <p:nvSpPr>
          <p:cNvPr id="11" name="Text 9"/>
          <p:cNvSpPr/>
          <p:nvPr/>
        </p:nvSpPr>
        <p:spPr>
          <a:xfrm>
            <a:off x="1026159" y="5263713"/>
            <a:ext cx="2204877" cy="302419"/>
          </a:xfrm>
          <a:prstGeom prst="rect">
            <a:avLst/>
          </a:prstGeom>
          <a:noFill/>
          <a:ln/>
        </p:spPr>
        <p:txBody>
          <a:bodyPr wrap="none" lIns="0" tIns="0" rIns="0" bIns="0" rtlCol="0" anchor="t"/>
          <a:lstStyle/>
          <a:p>
            <a:pPr marL="0" indent="0" algn="l">
              <a:lnSpc>
                <a:spcPct val="104000"/>
              </a:lnSpc>
              <a:buNone/>
            </a:pPr>
            <a:r>
              <a:rPr lang="en-US" sz="1850" dirty="0">
                <a:solidFill>
                  <a:srgbClr val="2C3249"/>
                </a:solidFill>
                <a:latin typeface="Kanit Light" pitchFamily="34" charset="0"/>
                <a:ea typeface="Kanit Light" pitchFamily="34" charset="-122"/>
                <a:cs typeface="Kanit Light" pitchFamily="34" charset="-120"/>
              </a:rPr>
              <a:t>Mehrfamilienhäuser</a:t>
            </a:r>
            <a:endParaRPr lang="en-US" sz="1850" dirty="0"/>
          </a:p>
        </p:txBody>
      </p:sp>
      <p:sp>
        <p:nvSpPr>
          <p:cNvPr id="12" name="Text 10"/>
          <p:cNvSpPr/>
          <p:nvPr/>
        </p:nvSpPr>
        <p:spPr>
          <a:xfrm>
            <a:off x="1578396" y="5687812"/>
            <a:ext cx="2465637" cy="302419"/>
          </a:xfrm>
          <a:prstGeom prst="rect">
            <a:avLst/>
          </a:prstGeom>
          <a:noFill/>
          <a:ln/>
        </p:spPr>
        <p:txBody>
          <a:bodyPr wrap="none" lIns="0" tIns="0" rIns="0" bIns="0" rtlCol="0" anchor="t"/>
          <a:lstStyle/>
          <a:p>
            <a:pPr marL="0" indent="0" algn="l">
              <a:lnSpc>
                <a:spcPct val="133000"/>
              </a:lnSpc>
              <a:buNone/>
            </a:pPr>
            <a:r>
              <a:rPr lang="en-US" sz="1450" dirty="0">
                <a:solidFill>
                  <a:srgbClr val="2C3249"/>
                </a:solidFill>
                <a:latin typeface="Martel Sans" pitchFamily="34" charset="0"/>
                <a:ea typeface="Martel Sans" pitchFamily="34" charset="-122"/>
                <a:cs typeface="Martel Sans" pitchFamily="34" charset="-120"/>
              </a:rPr>
              <a:t>+ 95,70 %</a:t>
            </a:r>
            <a:endParaRPr lang="en-US" sz="1450" dirty="0"/>
          </a:p>
        </p:txBody>
      </p:sp>
      <p:sp>
        <p:nvSpPr>
          <p:cNvPr id="13" name="Text 11"/>
          <p:cNvSpPr/>
          <p:nvPr/>
        </p:nvSpPr>
        <p:spPr>
          <a:xfrm>
            <a:off x="661475" y="4828084"/>
            <a:ext cx="11478330" cy="302419"/>
          </a:xfrm>
          <a:prstGeom prst="rect">
            <a:avLst/>
          </a:prstGeom>
          <a:noFill/>
          <a:ln/>
        </p:spPr>
        <p:txBody>
          <a:bodyPr wrap="none" lIns="0" tIns="0" rIns="0" bIns="0" rtlCol="0" anchor="t"/>
          <a:lstStyle/>
          <a:p>
            <a:pPr marL="0" indent="0" algn="l">
              <a:lnSpc>
                <a:spcPct val="133000"/>
              </a:lnSpc>
              <a:buNone/>
            </a:pPr>
            <a:endParaRPr lang="en-US" sz="1450" dirty="0"/>
          </a:p>
        </p:txBody>
      </p:sp>
      <p:sp>
        <p:nvSpPr>
          <p:cNvPr id="15" name="Rechteck 14">
            <a:extLst>
              <a:ext uri="{FF2B5EF4-FFF2-40B4-BE49-F238E27FC236}">
                <a16:creationId xmlns:a16="http://schemas.microsoft.com/office/drawing/2014/main" id="{33E857AF-325C-2DEF-6AB5-1B0360B18D40}"/>
              </a:ext>
            </a:extLst>
          </p:cNvPr>
          <p:cNvSpPr/>
          <p:nvPr/>
        </p:nvSpPr>
        <p:spPr>
          <a:xfrm>
            <a:off x="10599420" y="6527942"/>
            <a:ext cx="1539240" cy="3300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4" name="Grafik 23">
            <a:extLst>
              <a:ext uri="{FF2B5EF4-FFF2-40B4-BE49-F238E27FC236}">
                <a16:creationId xmlns:a16="http://schemas.microsoft.com/office/drawing/2014/main" id="{BBC5B811-6F87-3528-B013-1E84E8FC85A2}"/>
              </a:ext>
            </a:extLst>
          </p:cNvPr>
          <p:cNvPicPr>
            <a:picLocks noChangeAspect="1"/>
          </p:cNvPicPr>
          <p:nvPr/>
        </p:nvPicPr>
        <p:blipFill>
          <a:blip r:embed="rId3"/>
          <a:stretch>
            <a:fillRect/>
          </a:stretch>
        </p:blipFill>
        <p:spPr>
          <a:xfrm>
            <a:off x="4599651" y="2029916"/>
            <a:ext cx="7096635" cy="4177424"/>
          </a:xfrm>
          <a:prstGeom prst="roundRect">
            <a:avLst>
              <a:gd name="adj" fmla="val 3161"/>
            </a:avLst>
          </a:prstGeom>
          <a:effectLst>
            <a:outerShdw blurRad="50800" dist="38100" dir="2700000" algn="tl" rotWithShape="0">
              <a:prstClr val="black">
                <a:alpha val="40000"/>
              </a:prstClr>
            </a:outerShdw>
          </a:effectLst>
        </p:spPr>
      </p:pic>
      <p:sp>
        <p:nvSpPr>
          <p:cNvPr id="26" name="Textfeld 25">
            <a:extLst>
              <a:ext uri="{FF2B5EF4-FFF2-40B4-BE49-F238E27FC236}">
                <a16:creationId xmlns:a16="http://schemas.microsoft.com/office/drawing/2014/main" id="{ABEB1012-AEC6-2676-95CE-10E216290200}"/>
              </a:ext>
            </a:extLst>
          </p:cNvPr>
          <p:cNvSpPr txBox="1"/>
          <p:nvPr/>
        </p:nvSpPr>
        <p:spPr>
          <a:xfrm>
            <a:off x="11756874" y="6591601"/>
            <a:ext cx="763572" cy="246221"/>
          </a:xfrm>
          <a:prstGeom prst="rect">
            <a:avLst/>
          </a:prstGeom>
          <a:noFill/>
        </p:spPr>
        <p:txBody>
          <a:bodyPr wrap="square" rtlCol="0">
            <a:spAutoFit/>
          </a:bodyPr>
          <a:lstStyle/>
          <a:p>
            <a:r>
              <a:rPr lang="de-DE" sz="1000" dirty="0"/>
              <a:t>9/12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234182"/>
            <a:ext cx="6296860" cy="1771948"/>
          </a:xfrm>
          <a:prstGeom prst="rect">
            <a:avLst/>
          </a:prstGeom>
          <a:noFill/>
          <a:ln/>
        </p:spPr>
        <p:txBody>
          <a:bodyPr wrap="square" lIns="0" tIns="0" rIns="0" bIns="0" rtlCol="0" anchor="t">
            <a:normAutofit/>
          </a:bodyPr>
          <a:lstStyle/>
          <a:p>
            <a:pPr marL="0" indent="0">
              <a:lnSpc>
                <a:spcPct val="104000"/>
              </a:lnSpc>
              <a:buNone/>
            </a:pPr>
            <a:r>
              <a:rPr lang="en-US" sz="3700" dirty="0">
                <a:solidFill>
                  <a:srgbClr val="272D45"/>
                </a:solidFill>
                <a:latin typeface="Kanit Light" pitchFamily="34" charset="0"/>
                <a:ea typeface="Kanit Light" pitchFamily="34" charset="-122"/>
                <a:cs typeface="Kanit Light" pitchFamily="34" charset="-120"/>
              </a:rPr>
              <a:t>Zusatzbefund: Mehrfamilienhäuser als eigener Markttrend</a:t>
            </a:r>
            <a:endParaRPr lang="en-US" sz="3700" dirty="0"/>
          </a:p>
        </p:txBody>
      </p:sp>
      <p:sp>
        <p:nvSpPr>
          <p:cNvPr id="4" name="Text 1"/>
          <p:cNvSpPr/>
          <p:nvPr/>
        </p:nvSpPr>
        <p:spPr>
          <a:xfrm>
            <a:off x="661475" y="3750270"/>
            <a:ext cx="6003485" cy="1209675"/>
          </a:xfrm>
          <a:prstGeom prst="rect">
            <a:avLst/>
          </a:prstGeom>
          <a:noFill/>
          <a:ln/>
        </p:spPr>
        <p:txBody>
          <a:bodyPr wrap="square" lIns="0" tIns="0" rIns="0" bIns="0" rtlCol="0" anchor="t">
            <a:normAutofit/>
          </a:bodyPr>
          <a:lstStyle/>
          <a:p>
            <a:pPr marL="0" indent="0" algn="just">
              <a:lnSpc>
                <a:spcPct val="133000"/>
              </a:lnSpc>
              <a:buNone/>
            </a:pPr>
            <a:r>
              <a:rPr lang="en-US" sz="1450" dirty="0">
                <a:solidFill>
                  <a:srgbClr val="2C3249"/>
                </a:solidFill>
                <a:latin typeface="Martel Sans" pitchFamily="34" charset="0"/>
                <a:ea typeface="Martel Sans" pitchFamily="34" charset="-122"/>
                <a:cs typeface="Martel Sans" pitchFamily="34" charset="-120"/>
              </a:rPr>
              <a:t>Höchste Volatilität aller Typen (7,88 gegenüber 5,48 bei Wohnungen und 5,65 bei Einfamilienhäusern). Stärkster </a:t>
            </a:r>
            <a:r>
              <a:rPr lang="en-US" sz="1450" dirty="0" err="1">
                <a:solidFill>
                  <a:srgbClr val="2C3249"/>
                </a:solidFill>
                <a:latin typeface="Martel Sans" pitchFamily="34" charset="0"/>
                <a:ea typeface="Martel Sans" pitchFamily="34" charset="-122"/>
                <a:cs typeface="Martel Sans" pitchFamily="34" charset="-120"/>
              </a:rPr>
              <a:t>Einzelanstieg</a:t>
            </a:r>
            <a:r>
              <a:rPr lang="en-US" sz="1450" dirty="0">
                <a:solidFill>
                  <a:srgbClr val="2C3249"/>
                </a:solidFill>
                <a:latin typeface="Martel Sans" pitchFamily="34" charset="0"/>
                <a:ea typeface="Martel Sans" pitchFamily="34" charset="-122"/>
                <a:cs typeface="Martel Sans" pitchFamily="34" charset="-120"/>
              </a:rPr>
              <a:t> 13,71 % 2015, stärkster Einbruch minus 18,49 % 2023. Hinweis auf investorengetriebenes Marktsegment.</a:t>
            </a:r>
            <a:endParaRPr lang="en-US" sz="1450" dirty="0"/>
          </a:p>
        </p:txBody>
      </p:sp>
      <p:pic>
        <p:nvPicPr>
          <p:cNvPr id="6" name="Grafik 5">
            <a:extLst>
              <a:ext uri="{FF2B5EF4-FFF2-40B4-BE49-F238E27FC236}">
                <a16:creationId xmlns:a16="http://schemas.microsoft.com/office/drawing/2014/main" id="{F98263FD-CCD9-85BF-C24D-316ECC309998}"/>
              </a:ext>
            </a:extLst>
          </p:cNvPr>
          <p:cNvPicPr>
            <a:picLocks noChangeAspect="1"/>
          </p:cNvPicPr>
          <p:nvPr/>
        </p:nvPicPr>
        <p:blipFill>
          <a:blip r:embed="rId4"/>
          <a:srcRect l="-9893" r="9893"/>
          <a:stretch>
            <a:fillRect/>
          </a:stretch>
        </p:blipFill>
        <p:spPr>
          <a:xfrm>
            <a:off x="7117803" y="0"/>
            <a:ext cx="5074198" cy="6858000"/>
          </a:xfrm>
          <a:prstGeom prst="rect">
            <a:avLst/>
          </a:prstGeom>
        </p:spPr>
      </p:pic>
      <p:sp>
        <p:nvSpPr>
          <p:cNvPr id="8" name="Rechteck: abgerundete Ecken 7">
            <a:extLst>
              <a:ext uri="{FF2B5EF4-FFF2-40B4-BE49-F238E27FC236}">
                <a16:creationId xmlns:a16="http://schemas.microsoft.com/office/drawing/2014/main" id="{0DB090AA-E222-B783-AC4D-D723D66F2994}"/>
              </a:ext>
            </a:extLst>
          </p:cNvPr>
          <p:cNvSpPr/>
          <p:nvPr/>
        </p:nvSpPr>
        <p:spPr>
          <a:xfrm>
            <a:off x="7940040" y="6377939"/>
            <a:ext cx="4160521" cy="439705"/>
          </a:xfrm>
          <a:prstGeom prst="roundRect">
            <a:avLst/>
          </a:prstGeom>
          <a:blipFill>
            <a:blip r:embed="rId5"/>
            <a:tile tx="0" ty="0" sx="100000" sy="100000" flip="none" algn="tl"/>
          </a:blipFill>
          <a:ln>
            <a:noFill/>
          </a:ln>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de-DE" sz="1050" b="1" dirty="0">
                <a:solidFill>
                  <a:schemeClr val="tx1"/>
                </a:solidFill>
                <a:latin typeface="+mj-lt"/>
              </a:rPr>
              <a:t>Berlin</a:t>
            </a:r>
            <a:br>
              <a:rPr lang="de-DE" sz="1050" b="1" dirty="0">
                <a:solidFill>
                  <a:schemeClr val="tx1"/>
                </a:solidFill>
                <a:latin typeface="+mj-lt"/>
              </a:rPr>
            </a:br>
            <a:r>
              <a:rPr lang="de-DE" sz="1050" dirty="0">
                <a:solidFill>
                  <a:schemeClr val="tx1"/>
                </a:solidFill>
                <a:latin typeface="+mj-lt"/>
              </a:rPr>
              <a:t>Der Berliner Fernsehturm ist mit 386 m Deutschlands höchstes Bauwerk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20615" y="621578"/>
            <a:ext cx="10868745" cy="710902"/>
          </a:xfrm>
          <a:prstGeom prst="rect">
            <a:avLst/>
          </a:prstGeom>
          <a:noFill/>
          <a:ln/>
        </p:spPr>
        <p:txBody>
          <a:bodyPr wrap="square" lIns="0" tIns="0" rIns="0" bIns="0" rtlCol="0" anchor="t">
            <a:normAutofit/>
          </a:bodyPr>
          <a:lstStyle/>
          <a:p>
            <a:pPr marL="0" indent="0" algn="l">
              <a:lnSpc>
                <a:spcPct val="104000"/>
              </a:lnSpc>
              <a:buNone/>
            </a:pPr>
            <a:r>
              <a:rPr lang="en-US" sz="3150" dirty="0" err="1">
                <a:solidFill>
                  <a:srgbClr val="272D45"/>
                </a:solidFill>
                <a:latin typeface="Kanit Light" pitchFamily="34" charset="0"/>
                <a:ea typeface="Kanit Light" pitchFamily="34" charset="-122"/>
                <a:cs typeface="Kanit Light" pitchFamily="34" charset="-120"/>
              </a:rPr>
              <a:t>Finanzierbarkeit</a:t>
            </a:r>
            <a:r>
              <a:rPr lang="en-US" sz="3150" dirty="0">
                <a:solidFill>
                  <a:srgbClr val="272D45"/>
                </a:solidFill>
                <a:latin typeface="Kanit Light" pitchFamily="34" charset="0"/>
                <a:ea typeface="Kanit Light" pitchFamily="34" charset="-122"/>
                <a:cs typeface="Kanit Light" pitchFamily="34" charset="-120"/>
              </a:rPr>
              <a:t> </a:t>
            </a:r>
            <a:r>
              <a:rPr lang="en-US" sz="3150" dirty="0" err="1">
                <a:solidFill>
                  <a:srgbClr val="272D45"/>
                </a:solidFill>
                <a:latin typeface="Kanit Light" pitchFamily="34" charset="0"/>
                <a:ea typeface="Kanit Light" pitchFamily="34" charset="-122"/>
                <a:cs typeface="Kanit Light" pitchFamily="34" charset="-120"/>
              </a:rPr>
              <a:t>im</a:t>
            </a:r>
            <a:r>
              <a:rPr lang="en-US" sz="3150" dirty="0">
                <a:solidFill>
                  <a:srgbClr val="272D45"/>
                </a:solidFill>
                <a:latin typeface="Kanit Light" pitchFamily="34" charset="0"/>
                <a:ea typeface="Kanit Light" pitchFamily="34" charset="-122"/>
                <a:cs typeface="Kanit Light" pitchFamily="34" charset="-120"/>
              </a:rPr>
              <a:t> </a:t>
            </a:r>
            <a:r>
              <a:rPr lang="en-US" sz="3150" dirty="0" err="1">
                <a:solidFill>
                  <a:srgbClr val="272D45"/>
                </a:solidFill>
                <a:latin typeface="Kanit Light" pitchFamily="34" charset="0"/>
                <a:ea typeface="Kanit Light" pitchFamily="34" charset="-122"/>
                <a:cs typeface="Kanit Light" pitchFamily="34" charset="-120"/>
              </a:rPr>
              <a:t>Städtevergleich</a:t>
            </a:r>
            <a:endParaRPr lang="en-US" sz="3150" dirty="0"/>
          </a:p>
        </p:txBody>
      </p:sp>
      <p:sp>
        <p:nvSpPr>
          <p:cNvPr id="3" name="Text 1"/>
          <p:cNvSpPr/>
          <p:nvPr/>
        </p:nvSpPr>
        <p:spPr>
          <a:xfrm>
            <a:off x="517573" y="1425079"/>
            <a:ext cx="10868745" cy="713184"/>
          </a:xfrm>
          <a:prstGeom prst="rect">
            <a:avLst/>
          </a:prstGeom>
          <a:noFill/>
          <a:ln/>
        </p:spPr>
        <p:txBody>
          <a:bodyPr wrap="square" lIns="0" tIns="0" rIns="0" bIns="0" rtlCol="0" anchor="t">
            <a:normAutofit/>
          </a:bodyPr>
          <a:lstStyle/>
          <a:p>
            <a:pPr marL="0" indent="0" algn="just">
              <a:lnSpc>
                <a:spcPct val="123000"/>
              </a:lnSpc>
              <a:buNone/>
            </a:pPr>
            <a:r>
              <a:rPr lang="en-US" sz="1250" dirty="0">
                <a:solidFill>
                  <a:srgbClr val="2C3249"/>
                </a:solidFill>
                <a:latin typeface="Martel Sans" pitchFamily="34" charset="0"/>
                <a:ea typeface="Martel Sans" pitchFamily="34" charset="-122"/>
                <a:cs typeface="Martel Sans" pitchFamily="34" charset="-120"/>
              </a:rPr>
              <a:t>Anteil Hypothekenkosten am Einkommen stieg von 21,69 % (2005) auf 31,15 % (2022), blieb 2024 mit 27,08 % deutlich schlechter als vor dem Boom. Frankfurt am Main schlechteste Erschwinglichkeit (36,61 %) trotz nur Platz 4 beim Preisanstieg. Chemnitz und Duisburg </a:t>
            </a:r>
            <a:r>
              <a:rPr lang="en-US" sz="1250" dirty="0" err="1">
                <a:solidFill>
                  <a:srgbClr val="2C3249"/>
                </a:solidFill>
                <a:latin typeface="Martel Sans" pitchFamily="34" charset="0"/>
                <a:ea typeface="Martel Sans" pitchFamily="34" charset="-122"/>
                <a:cs typeface="Martel Sans" pitchFamily="34" charset="-120"/>
              </a:rPr>
              <a:t>beste</a:t>
            </a:r>
            <a:r>
              <a:rPr lang="en-US" sz="1250" dirty="0">
                <a:solidFill>
                  <a:srgbClr val="2C3249"/>
                </a:solidFill>
                <a:latin typeface="Martel Sans" pitchFamily="34" charset="0"/>
                <a:ea typeface="Martel Sans" pitchFamily="34" charset="-122"/>
                <a:cs typeface="Martel Sans" pitchFamily="34" charset="-120"/>
              </a:rPr>
              <a:t> </a:t>
            </a:r>
            <a:r>
              <a:rPr lang="en-US" sz="1250" dirty="0" err="1">
                <a:solidFill>
                  <a:srgbClr val="2C3249"/>
                </a:solidFill>
                <a:latin typeface="Martel Sans" pitchFamily="34" charset="0"/>
                <a:ea typeface="Martel Sans" pitchFamily="34" charset="-122"/>
                <a:cs typeface="Martel Sans" pitchFamily="34" charset="-120"/>
              </a:rPr>
              <a:t>Finanzierbarkeit</a:t>
            </a:r>
            <a:r>
              <a:rPr lang="en-US" sz="1250" dirty="0">
                <a:solidFill>
                  <a:srgbClr val="2C3249"/>
                </a:solidFill>
                <a:latin typeface="Martel Sans" pitchFamily="34" charset="0"/>
                <a:ea typeface="Martel Sans" pitchFamily="34" charset="-122"/>
                <a:cs typeface="Martel Sans" pitchFamily="34" charset="-120"/>
              </a:rPr>
              <a:t>.</a:t>
            </a:r>
            <a:endParaRPr lang="en-US" sz="1250" dirty="0"/>
          </a:p>
        </p:txBody>
      </p:sp>
      <p:sp>
        <p:nvSpPr>
          <p:cNvPr id="4" name="Text 2"/>
          <p:cNvSpPr/>
          <p:nvPr/>
        </p:nvSpPr>
        <p:spPr>
          <a:xfrm>
            <a:off x="696259" y="2529760"/>
            <a:ext cx="1731394" cy="530225"/>
          </a:xfrm>
          <a:prstGeom prst="rect">
            <a:avLst/>
          </a:prstGeom>
          <a:noFill/>
          <a:ln/>
        </p:spPr>
        <p:txBody>
          <a:bodyPr wrap="none" lIns="0" tIns="0" rIns="0" bIns="0" rtlCol="0" anchor="t"/>
          <a:lstStyle/>
          <a:p>
            <a:pPr marL="0" indent="0" algn="ctr">
              <a:lnSpc>
                <a:spcPct val="83000"/>
              </a:lnSpc>
              <a:buNone/>
            </a:pPr>
            <a:r>
              <a:rPr lang="en-US" sz="2000" dirty="0">
                <a:solidFill>
                  <a:srgbClr val="2C3249"/>
                </a:solidFill>
                <a:latin typeface="Kanit Light" pitchFamily="34" charset="0"/>
                <a:ea typeface="Kanit Light" pitchFamily="34" charset="-122"/>
                <a:cs typeface="Kanit Light" pitchFamily="34" charset="-120"/>
              </a:rPr>
              <a:t>21,69 %</a:t>
            </a:r>
            <a:endParaRPr lang="en-US" sz="2000" dirty="0"/>
          </a:p>
        </p:txBody>
      </p:sp>
      <p:sp>
        <p:nvSpPr>
          <p:cNvPr id="5" name="Text 3"/>
          <p:cNvSpPr/>
          <p:nvPr/>
        </p:nvSpPr>
        <p:spPr>
          <a:xfrm>
            <a:off x="-1112568" y="2847821"/>
            <a:ext cx="5349047" cy="251023"/>
          </a:xfrm>
          <a:prstGeom prst="rect">
            <a:avLst/>
          </a:prstGeom>
          <a:noFill/>
          <a:ln/>
        </p:spPr>
        <p:txBody>
          <a:bodyPr wrap="none" lIns="0" tIns="0" rIns="0" bIns="0" rtlCol="0" anchor="t"/>
          <a:lstStyle/>
          <a:p>
            <a:pPr algn="ctr">
              <a:lnSpc>
                <a:spcPct val="104000"/>
              </a:lnSpc>
            </a:pPr>
            <a:r>
              <a:rPr lang="en-US" sz="1400" dirty="0" err="1">
                <a:solidFill>
                  <a:srgbClr val="2C3249"/>
                </a:solidFill>
                <a:latin typeface="Kanit Light" pitchFamily="34" charset="0"/>
                <a:ea typeface="Kanit Light" pitchFamily="34" charset="-122"/>
                <a:cs typeface="Kanit Light" pitchFamily="34" charset="-120"/>
              </a:rPr>
              <a:t>Hypothekenkosten</a:t>
            </a:r>
            <a:r>
              <a:rPr lang="en-US" sz="1550" dirty="0">
                <a:solidFill>
                  <a:srgbClr val="2C3249"/>
                </a:solidFill>
                <a:latin typeface="Kanit Light" pitchFamily="34" charset="0"/>
                <a:ea typeface="Kanit Light" pitchFamily="34" charset="-122"/>
                <a:cs typeface="Kanit Light" pitchFamily="34" charset="-120"/>
              </a:rPr>
              <a:t> 2005</a:t>
            </a:r>
            <a:endParaRPr lang="en-US" sz="1600" dirty="0"/>
          </a:p>
          <a:p>
            <a:pPr marL="0" indent="0" algn="ctr">
              <a:lnSpc>
                <a:spcPct val="104000"/>
              </a:lnSpc>
              <a:buNone/>
            </a:pPr>
            <a:endParaRPr lang="en-US" sz="1550" dirty="0"/>
          </a:p>
        </p:txBody>
      </p:sp>
      <p:sp>
        <p:nvSpPr>
          <p:cNvPr id="6" name="Text 4"/>
          <p:cNvSpPr/>
          <p:nvPr/>
        </p:nvSpPr>
        <p:spPr>
          <a:xfrm>
            <a:off x="357513" y="3252688"/>
            <a:ext cx="1370525" cy="507702"/>
          </a:xfrm>
          <a:prstGeom prst="rect">
            <a:avLst/>
          </a:prstGeom>
          <a:noFill/>
          <a:ln/>
        </p:spPr>
        <p:txBody>
          <a:bodyPr wrap="none" lIns="0" tIns="0" rIns="0" bIns="0" rtlCol="0" anchor="t"/>
          <a:lstStyle/>
          <a:p>
            <a:pPr marL="0" indent="0">
              <a:lnSpc>
                <a:spcPct val="123000"/>
              </a:lnSpc>
              <a:buNone/>
            </a:pPr>
            <a:endParaRPr lang="en-US" sz="1250" dirty="0"/>
          </a:p>
        </p:txBody>
      </p:sp>
      <p:sp>
        <p:nvSpPr>
          <p:cNvPr id="7" name="Text 5"/>
          <p:cNvSpPr/>
          <p:nvPr/>
        </p:nvSpPr>
        <p:spPr>
          <a:xfrm>
            <a:off x="-711391" y="3606751"/>
            <a:ext cx="4546685" cy="530225"/>
          </a:xfrm>
          <a:prstGeom prst="rect">
            <a:avLst/>
          </a:prstGeom>
          <a:noFill/>
          <a:ln/>
        </p:spPr>
        <p:txBody>
          <a:bodyPr wrap="none" lIns="0" tIns="0" rIns="0" bIns="0" rtlCol="0" anchor="t"/>
          <a:lstStyle/>
          <a:p>
            <a:pPr marL="0" indent="0" algn="ctr">
              <a:lnSpc>
                <a:spcPct val="83000"/>
              </a:lnSpc>
              <a:buNone/>
            </a:pPr>
            <a:r>
              <a:rPr lang="en-US" sz="2000" dirty="0">
                <a:solidFill>
                  <a:srgbClr val="2C3249"/>
                </a:solidFill>
                <a:latin typeface="Kanit Light" pitchFamily="34" charset="0"/>
                <a:ea typeface="Kanit Light" pitchFamily="34" charset="-122"/>
                <a:cs typeface="Kanit Light" pitchFamily="34" charset="-120"/>
              </a:rPr>
              <a:t>31,15 %</a:t>
            </a:r>
            <a:endParaRPr lang="en-US" sz="2000" dirty="0"/>
          </a:p>
        </p:txBody>
      </p:sp>
      <p:sp>
        <p:nvSpPr>
          <p:cNvPr id="8" name="Text 6"/>
          <p:cNvSpPr/>
          <p:nvPr/>
        </p:nvSpPr>
        <p:spPr>
          <a:xfrm>
            <a:off x="78425" y="3968623"/>
            <a:ext cx="2464963" cy="251023"/>
          </a:xfrm>
          <a:prstGeom prst="rect">
            <a:avLst/>
          </a:prstGeom>
          <a:noFill/>
          <a:ln/>
        </p:spPr>
        <p:txBody>
          <a:bodyPr wrap="none" lIns="0" tIns="0" rIns="0" bIns="0" rtlCol="0" anchor="t"/>
          <a:lstStyle/>
          <a:p>
            <a:pPr marL="0" indent="0" algn="r">
              <a:lnSpc>
                <a:spcPct val="104000"/>
              </a:lnSpc>
              <a:buNone/>
            </a:pPr>
            <a:r>
              <a:rPr lang="en-US" sz="1400" dirty="0">
                <a:solidFill>
                  <a:srgbClr val="2C3249"/>
                </a:solidFill>
                <a:latin typeface="Kanit Light" pitchFamily="34" charset="0"/>
                <a:ea typeface="Kanit Light" pitchFamily="34" charset="-122"/>
                <a:cs typeface="Kanit Light" pitchFamily="34" charset="-120"/>
              </a:rPr>
              <a:t>Hypothekenkosten 2022</a:t>
            </a:r>
            <a:endParaRPr lang="en-US" sz="1400" dirty="0"/>
          </a:p>
        </p:txBody>
      </p:sp>
      <p:sp>
        <p:nvSpPr>
          <p:cNvPr id="9" name="Text 7"/>
          <p:cNvSpPr/>
          <p:nvPr/>
        </p:nvSpPr>
        <p:spPr>
          <a:xfrm>
            <a:off x="6367633" y="3243030"/>
            <a:ext cx="5349047" cy="237728"/>
          </a:xfrm>
          <a:prstGeom prst="rect">
            <a:avLst/>
          </a:prstGeom>
          <a:noFill/>
          <a:ln/>
        </p:spPr>
        <p:txBody>
          <a:bodyPr wrap="none" lIns="0" tIns="0" rIns="0" bIns="0" rtlCol="0" anchor="t"/>
          <a:lstStyle/>
          <a:p>
            <a:pPr marL="0" indent="0" algn="r">
              <a:lnSpc>
                <a:spcPct val="123000"/>
              </a:lnSpc>
              <a:buNone/>
            </a:pPr>
            <a:endParaRPr lang="en-US" sz="1250" dirty="0"/>
          </a:p>
        </p:txBody>
      </p:sp>
      <p:sp>
        <p:nvSpPr>
          <p:cNvPr id="10" name="Text 8"/>
          <p:cNvSpPr/>
          <p:nvPr/>
        </p:nvSpPr>
        <p:spPr>
          <a:xfrm>
            <a:off x="895073" y="4729073"/>
            <a:ext cx="1370526" cy="530225"/>
          </a:xfrm>
          <a:prstGeom prst="rect">
            <a:avLst/>
          </a:prstGeom>
          <a:noFill/>
          <a:ln/>
        </p:spPr>
        <p:txBody>
          <a:bodyPr wrap="none" lIns="0" tIns="0" rIns="0" bIns="0" rtlCol="0" anchor="t"/>
          <a:lstStyle/>
          <a:p>
            <a:pPr marL="0" indent="0" algn="ctr">
              <a:lnSpc>
                <a:spcPct val="83000"/>
              </a:lnSpc>
              <a:buNone/>
            </a:pPr>
            <a:r>
              <a:rPr lang="en-US" sz="2000" dirty="0">
                <a:solidFill>
                  <a:srgbClr val="2C3249"/>
                </a:solidFill>
                <a:latin typeface="Kanit Light" pitchFamily="34" charset="0"/>
                <a:ea typeface="Kanit Light" pitchFamily="34" charset="-122"/>
                <a:cs typeface="Kanit Light" pitchFamily="34" charset="-120"/>
              </a:rPr>
              <a:t>27,08 %</a:t>
            </a:r>
            <a:endParaRPr lang="en-US" sz="2000" dirty="0"/>
          </a:p>
        </p:txBody>
      </p:sp>
      <p:sp>
        <p:nvSpPr>
          <p:cNvPr id="11" name="Text 9"/>
          <p:cNvSpPr/>
          <p:nvPr/>
        </p:nvSpPr>
        <p:spPr>
          <a:xfrm>
            <a:off x="-1124341" y="5031210"/>
            <a:ext cx="5349047" cy="251023"/>
          </a:xfrm>
          <a:prstGeom prst="rect">
            <a:avLst/>
          </a:prstGeom>
          <a:noFill/>
          <a:ln/>
        </p:spPr>
        <p:txBody>
          <a:bodyPr wrap="none" lIns="0" tIns="0" rIns="0" bIns="0" rtlCol="0" anchor="t"/>
          <a:lstStyle/>
          <a:p>
            <a:pPr marL="0" indent="0" algn="ctr">
              <a:lnSpc>
                <a:spcPct val="104000"/>
              </a:lnSpc>
              <a:buNone/>
            </a:pPr>
            <a:r>
              <a:rPr lang="en-US" sz="1400" dirty="0">
                <a:solidFill>
                  <a:srgbClr val="2C3249"/>
                </a:solidFill>
                <a:latin typeface="Kanit Light" pitchFamily="34" charset="0"/>
                <a:ea typeface="Kanit Light" pitchFamily="34" charset="-122"/>
                <a:cs typeface="Kanit Light" pitchFamily="34" charset="-120"/>
              </a:rPr>
              <a:t>Hypothekenkosten 2024</a:t>
            </a:r>
            <a:endParaRPr lang="en-US" sz="1400" dirty="0"/>
          </a:p>
        </p:txBody>
      </p:sp>
      <p:sp>
        <p:nvSpPr>
          <p:cNvPr id="13" name="Text 11"/>
          <p:cNvSpPr/>
          <p:nvPr/>
        </p:nvSpPr>
        <p:spPr>
          <a:xfrm>
            <a:off x="1072251" y="5722550"/>
            <a:ext cx="979403" cy="530225"/>
          </a:xfrm>
          <a:prstGeom prst="rect">
            <a:avLst/>
          </a:prstGeom>
          <a:noFill/>
          <a:ln/>
        </p:spPr>
        <p:txBody>
          <a:bodyPr wrap="none" lIns="0" tIns="0" rIns="0" bIns="0" rtlCol="0" anchor="t"/>
          <a:lstStyle/>
          <a:p>
            <a:pPr marL="0" indent="0" algn="ctr">
              <a:lnSpc>
                <a:spcPct val="83000"/>
              </a:lnSpc>
              <a:buNone/>
            </a:pPr>
            <a:r>
              <a:rPr lang="en-US" sz="2000" dirty="0">
                <a:solidFill>
                  <a:srgbClr val="2C3249"/>
                </a:solidFill>
                <a:latin typeface="Kanit Light" pitchFamily="34" charset="0"/>
                <a:ea typeface="Kanit Light" pitchFamily="34" charset="-122"/>
                <a:cs typeface="Kanit Light" pitchFamily="34" charset="-120"/>
              </a:rPr>
              <a:t>36,61 %</a:t>
            </a:r>
            <a:endParaRPr lang="en-US" sz="2000" dirty="0"/>
          </a:p>
        </p:txBody>
      </p:sp>
      <p:sp>
        <p:nvSpPr>
          <p:cNvPr id="14" name="Text 12"/>
          <p:cNvSpPr/>
          <p:nvPr/>
        </p:nvSpPr>
        <p:spPr>
          <a:xfrm>
            <a:off x="517573" y="6093797"/>
            <a:ext cx="1910080" cy="251023"/>
          </a:xfrm>
          <a:prstGeom prst="rect">
            <a:avLst/>
          </a:prstGeom>
          <a:noFill/>
          <a:ln/>
        </p:spPr>
        <p:txBody>
          <a:bodyPr wrap="none" lIns="0" tIns="0" rIns="0" bIns="0" rtlCol="0" anchor="t"/>
          <a:lstStyle/>
          <a:p>
            <a:pPr marL="0" indent="0" algn="ctr">
              <a:lnSpc>
                <a:spcPct val="104000"/>
              </a:lnSpc>
              <a:buNone/>
            </a:pPr>
            <a:r>
              <a:rPr lang="en-US" sz="1400" dirty="0">
                <a:solidFill>
                  <a:srgbClr val="2C3249"/>
                </a:solidFill>
                <a:latin typeface="Kanit Light" pitchFamily="34" charset="0"/>
                <a:ea typeface="Kanit Light" pitchFamily="34" charset="-122"/>
                <a:cs typeface="Kanit Light" pitchFamily="34" charset="-120"/>
              </a:rPr>
              <a:t>Frankfurt am Main</a:t>
            </a:r>
            <a:endParaRPr lang="en-US" sz="1400" dirty="0"/>
          </a:p>
        </p:txBody>
      </p:sp>
      <p:sp>
        <p:nvSpPr>
          <p:cNvPr id="15" name="Text 13"/>
          <p:cNvSpPr/>
          <p:nvPr/>
        </p:nvSpPr>
        <p:spPr>
          <a:xfrm>
            <a:off x="8903864" y="4957754"/>
            <a:ext cx="2709016" cy="301544"/>
          </a:xfrm>
          <a:prstGeom prst="rect">
            <a:avLst/>
          </a:prstGeom>
          <a:noFill/>
          <a:ln/>
        </p:spPr>
        <p:txBody>
          <a:bodyPr wrap="none" lIns="0" tIns="0" rIns="0" bIns="0" rtlCol="0" anchor="t"/>
          <a:lstStyle/>
          <a:p>
            <a:pPr marL="0" indent="0" algn="r">
              <a:lnSpc>
                <a:spcPct val="123000"/>
              </a:lnSpc>
              <a:buNone/>
            </a:pPr>
            <a:endParaRPr lang="en-US" sz="1250" dirty="0"/>
          </a:p>
        </p:txBody>
      </p:sp>
      <p:sp>
        <p:nvSpPr>
          <p:cNvPr id="18" name="Rechteck 17">
            <a:extLst>
              <a:ext uri="{FF2B5EF4-FFF2-40B4-BE49-F238E27FC236}">
                <a16:creationId xmlns:a16="http://schemas.microsoft.com/office/drawing/2014/main" id="{D69118B8-5BFD-2CBF-1E4E-103482F3496C}"/>
              </a:ext>
            </a:extLst>
          </p:cNvPr>
          <p:cNvSpPr/>
          <p:nvPr/>
        </p:nvSpPr>
        <p:spPr>
          <a:xfrm>
            <a:off x="10599420" y="6527942"/>
            <a:ext cx="1539240" cy="3300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5" name="Textfeld 24">
            <a:extLst>
              <a:ext uri="{FF2B5EF4-FFF2-40B4-BE49-F238E27FC236}">
                <a16:creationId xmlns:a16="http://schemas.microsoft.com/office/drawing/2014/main" id="{41289725-5895-4FD5-76B3-234958548B4E}"/>
              </a:ext>
            </a:extLst>
          </p:cNvPr>
          <p:cNvSpPr txBox="1"/>
          <p:nvPr/>
        </p:nvSpPr>
        <p:spPr>
          <a:xfrm>
            <a:off x="11716680" y="6591601"/>
            <a:ext cx="803766" cy="246221"/>
          </a:xfrm>
          <a:prstGeom prst="rect">
            <a:avLst/>
          </a:prstGeom>
          <a:noFill/>
        </p:spPr>
        <p:txBody>
          <a:bodyPr wrap="square" rtlCol="0">
            <a:spAutoFit/>
          </a:bodyPr>
          <a:lstStyle/>
          <a:p>
            <a:r>
              <a:rPr lang="de-DE" sz="1000" dirty="0"/>
              <a:t>11/12</a:t>
            </a:r>
          </a:p>
        </p:txBody>
      </p:sp>
      <p:pic>
        <p:nvPicPr>
          <p:cNvPr id="31" name="Grafik 30">
            <a:extLst>
              <a:ext uri="{FF2B5EF4-FFF2-40B4-BE49-F238E27FC236}">
                <a16:creationId xmlns:a16="http://schemas.microsoft.com/office/drawing/2014/main" id="{B32984AF-1A69-9049-7080-B637C8200FBD}"/>
              </a:ext>
            </a:extLst>
          </p:cNvPr>
          <p:cNvPicPr>
            <a:picLocks noChangeAspect="1"/>
          </p:cNvPicPr>
          <p:nvPr/>
        </p:nvPicPr>
        <p:blipFill>
          <a:blip r:embed="rId3"/>
          <a:stretch>
            <a:fillRect/>
          </a:stretch>
        </p:blipFill>
        <p:spPr>
          <a:xfrm>
            <a:off x="4821229" y="2315617"/>
            <a:ext cx="6565089" cy="4128093"/>
          </a:xfrm>
          <a:prstGeom prst="roundRect">
            <a:avLst>
              <a:gd name="adj" fmla="val 3161"/>
            </a:avLst>
          </a:prstGeom>
          <a:effectLst>
            <a:outerShdw blurRad="50800" dist="38100" dir="2700000" algn="tl" rotWithShape="0">
              <a:prstClr val="black">
                <a:alpha val="40000"/>
              </a:prst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661475" y="1547738"/>
            <a:ext cx="6296860" cy="590649"/>
          </a:xfrm>
          <a:prstGeom prst="rect">
            <a:avLst/>
          </a:prstGeom>
          <a:noFill/>
          <a:ln/>
        </p:spPr>
        <p:txBody>
          <a:bodyPr wrap="none" lIns="0" tIns="0" rIns="0" bIns="0" rtlCol="0" anchor="t"/>
          <a:lstStyle/>
          <a:p>
            <a:pPr marL="0" indent="0" algn="l">
              <a:lnSpc>
                <a:spcPct val="104000"/>
              </a:lnSpc>
              <a:buNone/>
            </a:pPr>
            <a:r>
              <a:rPr lang="en-US" sz="3700" dirty="0">
                <a:solidFill>
                  <a:srgbClr val="272D45"/>
                </a:solidFill>
                <a:latin typeface="Kanit Light" pitchFamily="34" charset="0"/>
                <a:ea typeface="Kanit Light" pitchFamily="34" charset="-122"/>
                <a:cs typeface="Kanit Light" pitchFamily="34" charset="-120"/>
              </a:rPr>
              <a:t>Gesamtfazit</a:t>
            </a:r>
            <a:endParaRPr lang="en-US" sz="3700" dirty="0"/>
          </a:p>
        </p:txBody>
      </p:sp>
      <p:sp>
        <p:nvSpPr>
          <p:cNvPr id="4" name="Text 1"/>
          <p:cNvSpPr/>
          <p:nvPr/>
        </p:nvSpPr>
        <p:spPr>
          <a:xfrm>
            <a:off x="661475" y="2672953"/>
            <a:ext cx="6296860" cy="1512094"/>
          </a:xfrm>
          <a:prstGeom prst="rect">
            <a:avLst/>
          </a:prstGeom>
          <a:noFill/>
          <a:ln/>
        </p:spPr>
        <p:txBody>
          <a:bodyPr wrap="square" lIns="0" tIns="0" rIns="0" bIns="0" rtlCol="0" anchor="t">
            <a:normAutofit/>
          </a:bodyPr>
          <a:lstStyle/>
          <a:p>
            <a:pPr marL="0" indent="0" algn="just">
              <a:lnSpc>
                <a:spcPct val="133000"/>
              </a:lnSpc>
              <a:buNone/>
            </a:pPr>
            <a:r>
              <a:rPr lang="en-US" sz="1450" dirty="0">
                <a:solidFill>
                  <a:srgbClr val="2C3249"/>
                </a:solidFill>
                <a:latin typeface="Martel Sans" pitchFamily="34" charset="0"/>
                <a:ea typeface="Martel Sans" pitchFamily="34" charset="-122"/>
                <a:cs typeface="Martel Sans" pitchFamily="34" charset="-120"/>
              </a:rPr>
              <a:t>Alle drei Hypothesen bestätigt, mit wichtigen Präzisierungen. Der Markt zeigt starke zeitliche, regionale und strukturelle Ausdifferenzierung. Einzelne Kennzahlen allein können irreführen, erst das Zusammenspiel aus Zeit, Region, Typ und Zinsen ergibt ein belastbares Bild.</a:t>
            </a:r>
            <a:endParaRPr lang="en-US" sz="1450" dirty="0"/>
          </a:p>
        </p:txBody>
      </p:sp>
      <p:pic>
        <p:nvPicPr>
          <p:cNvPr id="6" name="Grafik 5">
            <a:extLst>
              <a:ext uri="{FF2B5EF4-FFF2-40B4-BE49-F238E27FC236}">
                <a16:creationId xmlns:a16="http://schemas.microsoft.com/office/drawing/2014/main" id="{B83DF4FB-C139-CC36-2B7C-EEF38407B3F9}"/>
              </a:ext>
            </a:extLst>
          </p:cNvPr>
          <p:cNvPicPr>
            <a:picLocks noChangeAspect="1"/>
          </p:cNvPicPr>
          <p:nvPr/>
        </p:nvPicPr>
        <p:blipFill>
          <a:blip r:embed="rId3"/>
          <a:stretch>
            <a:fillRect/>
          </a:stretch>
        </p:blipFill>
        <p:spPr>
          <a:xfrm>
            <a:off x="7656576" y="0"/>
            <a:ext cx="4535424" cy="6858000"/>
          </a:xfrm>
          <a:prstGeom prst="rect">
            <a:avLst/>
          </a:prstGeom>
        </p:spPr>
      </p:pic>
      <p:sp>
        <p:nvSpPr>
          <p:cNvPr id="8" name="Rechteck: abgerundete Ecken 7">
            <a:extLst>
              <a:ext uri="{FF2B5EF4-FFF2-40B4-BE49-F238E27FC236}">
                <a16:creationId xmlns:a16="http://schemas.microsoft.com/office/drawing/2014/main" id="{4C7DFD63-CC7C-B9D2-4FB7-52454A8FFE8A}"/>
              </a:ext>
            </a:extLst>
          </p:cNvPr>
          <p:cNvSpPr/>
          <p:nvPr/>
        </p:nvSpPr>
        <p:spPr>
          <a:xfrm>
            <a:off x="9490709" y="6342928"/>
            <a:ext cx="2621281" cy="474716"/>
          </a:xfrm>
          <a:prstGeom prst="roundRect">
            <a:avLst/>
          </a:prstGeom>
          <a:blipFill>
            <a:blip r:embed="rId4"/>
            <a:tile tx="0" ty="0" sx="100000" sy="100000" flip="none" algn="tl"/>
          </a:blipFill>
          <a:ln>
            <a:noFill/>
          </a:ln>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de-DE" sz="1050" b="1" dirty="0">
                <a:solidFill>
                  <a:schemeClr val="tx1"/>
                </a:solidFill>
                <a:latin typeface="+mj-lt"/>
              </a:rPr>
              <a:t>Düsseldorf</a:t>
            </a:r>
            <a:br>
              <a:rPr lang="de-DE" sz="1050" b="1" dirty="0">
                <a:solidFill>
                  <a:schemeClr val="tx1"/>
                </a:solidFill>
                <a:latin typeface="+mj-lt"/>
              </a:rPr>
            </a:br>
            <a:r>
              <a:rPr lang="de-DE" sz="1050" dirty="0">
                <a:solidFill>
                  <a:schemeClr val="tx1"/>
                </a:solidFill>
                <a:latin typeface="+mj-lt"/>
              </a:rPr>
              <a:t>Größte japanische Community Deutschlands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732</Words>
  <Application>Microsoft Office PowerPoint</Application>
  <PresentationFormat>Breitbild</PresentationFormat>
  <Paragraphs>98</Paragraphs>
  <Slides>12</Slides>
  <Notes>12</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12</vt:i4>
      </vt:variant>
    </vt:vector>
  </HeadingPairs>
  <TitlesOfParts>
    <vt:vector size="17" baseType="lpstr">
      <vt:lpstr>Arial</vt:lpstr>
      <vt:lpstr>Kanit Light</vt:lpstr>
      <vt:lpstr>Martel Sans</vt:lpstr>
      <vt:lpstr>Calibri Light</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Roman Rosenberger</dc:creator>
  <cp:lastModifiedBy>Roman Rosenberger</cp:lastModifiedBy>
  <cp:revision>11</cp:revision>
  <dcterms:created xsi:type="dcterms:W3CDTF">2026-09-25T13:10:48Z</dcterms:created>
  <dcterms:modified xsi:type="dcterms:W3CDTF">2026-09-29T07:40:42Z</dcterms:modified>
</cp:coreProperties>
</file>